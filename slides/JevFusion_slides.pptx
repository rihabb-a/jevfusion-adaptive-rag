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2cd4995-b5df-e626-3144-a52f1ef14c1a}">
          <p14:sldIdLst>
            <p14:sldId id="256"/>
          </p14:sldIdLst>
        </p14:section>
        <p14:section name="Baseline" id="{809893d1-d2f5-b2ea-4e0e-88d9110a92a0}">
          <p14:sldIdLst>
            <p14:sldId id="257"/>
          </p14:sldIdLst>
        </p14:section>
        <p14:section name="Extension" id="{8f7e3147-3572-69dd-fde3-1555d4741f76}">
          <p14:sldIdLst>
            <p14:sldId id="258"/>
          </p14:sldIdLst>
        </p14:section>
        <p14:section name="Results" id="{81b2a15c-a776-e34a-c658-58ce29ca607e}">
          <p14:sldIdLst>
            <p14:sldId id="259"/>
          </p14:sldIdLst>
        </p14:section>
        <p14:section name="Conclusion" id="{d4c0f244-c02c-b448-fbab-24953a9f4f49}">
          <p14:sldIdLst>
            <p14:sldId id="260"/>
          </p14:sldIdLst>
        </p14:section>
        <p14:section name="Closing" id="{77fb85aa-bcf0-9695-a72e-8a85f978fb6f}">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568"/>
                </a:solidFill>
                <a:latin typeface="+mn-lt"/>
              </a:defRPr>
            </a:pPr>
            <a:r>
              <a:rPr sz="1200" b="0" i="0" u="none" strike="noStrike">
                <a:solidFill>
                  <a:srgbClr val="4A5568"/>
                </a:solidFill>
                <a:latin typeface="+mn-lt"/>
              </a:rPr>
              <a:t>Judge − tuned fixed α = 0.6  (P@1 points)</a:t>
            </a:r>
          </a:p>
        </c:rich>
      </c:tx>
      <c:layout/>
      <c:overlay val="0"/>
    </c:title>
    <c:autoTitleDeleted val="0"/>
    <c:plotArea>
      <c:layout/>
      <c:barChart>
        <c:barDir val="col"/>
        <c:grouping val="clustered"/>
        <c:varyColors val="0"/>
        <c:ser>
          <c:idx val="0"/>
          <c:order val="0"/>
          <c:tx>
            <c:strRef>
              <c:f>Sheet1!$B$1</c:f>
              <c:strCache>
                <c:ptCount val="1"/>
                <c:pt idx="0">
                  <c:v>Judge − tuned fixed α = 0.6</c:v>
                </c:pt>
              </c:strCache>
            </c:strRef>
          </c:tx>
          <c:spPr>
            <a:solidFill>
              <a:srgbClr val="3A6EA5"/>
            </a:solidFill>
            <a:effectLst/>
          </c:spPr>
          <c:invertIfNegative val="0"/>
          <c:dLbls>
            <c:numFmt formatCode="+0.00;−0.00;0.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3A6EA5"/>
              </a:solidFill>
              <a:effectLst/>
            </c:spPr>
          </c:dPt>
          <c:dPt>
            <c:idx val="1"/>
            <c:invertIfNegative val="0"/>
            <c:bubble3D val="0"/>
            <c:spPr>
              <a:solidFill>
                <a:srgbClr val="C8385A"/>
              </a:solidFill>
              <a:effectLst/>
            </c:spPr>
          </c:dPt>
          <c:dPt>
            <c:idx val="2"/>
            <c:invertIfNegative val="0"/>
            <c:bubble3D val="0"/>
            <c:spPr>
              <a:solidFill>
                <a:srgbClr val="E58FA3"/>
              </a:solidFill>
              <a:effectLst/>
            </c:spPr>
          </c:dPt>
          <c:cat>
            <c:multiLvlStrRef>
              <c:f>Sheet1!$A$2:$A$4</c:f>
              <c:multiLvlStrCache>
                <c:ptCount val="3"/>
                <c:lvl>
                  <c:pt idx="0">
                    <c:v>DAT</c:v>
                  </c:pt>
                  <c:pt idx="1">
                    <c:v>J1</c:v>
                  </c:pt>
                  <c:pt idx="2">
                    <c:v>J3</c:v>
                  </c:pt>
                </c:lvl>
              </c:multiLvlStrCache>
            </c:multiLvlStrRef>
          </c:cat>
          <c:val>
            <c:numRef>
              <c:f>Sheet1!$B$2:$B$4</c:f>
              <c:numCache>
                <c:formatCode>General</c:formatCode>
                <c:ptCount val="3"/>
                <c:pt idx="0">
                  <c:v>1.64</c:v>
                </c:pt>
                <c:pt idx="1">
                  <c:v>3.27</c:v>
                </c:pt>
                <c:pt idx="2">
                  <c:v>1.37</c:v>
                </c:pt>
              </c:numCache>
            </c:numRef>
          </c:val>
        </c:ser>
        <c:dLbls>
          <c:numFmt formatCode="+0.00;−0.00;0.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6350" cap="flat">
              <a:solidFill>
                <a:srgbClr val="D5DC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568"/>
                </a:solidFill>
                <a:latin typeface="+mn-lt"/>
              </a:defRPr>
            </a:pPr>
            <a:r>
              <a:rPr sz="1200" b="0" i="0" u="none" strike="noStrike">
                <a:solidFill>
                  <a:srgbClr val="4A5568"/>
                </a:solidFill>
                <a:latin typeface="+mn-lt"/>
              </a:rPr>
              <a:t>Judge − tuned fixed α = 0.8 (dev)  (nDCG@10 points)</a:t>
            </a:r>
          </a:p>
        </c:rich>
      </c:tx>
      <c:layout/>
      <c:overlay val="0"/>
    </c:title>
    <c:autoTitleDeleted val="0"/>
    <c:plotArea>
      <c:layout/>
      <c:barChart>
        <c:barDir val="col"/>
        <c:grouping val="clustered"/>
        <c:varyColors val="0"/>
        <c:ser>
          <c:idx val="0"/>
          <c:order val="0"/>
          <c:tx>
            <c:strRef>
              <c:f>Sheet1!$B$1</c:f>
              <c:strCache>
                <c:ptCount val="1"/>
                <c:pt idx="0">
                  <c:v>Judge − tuned fixed α = 0.8 (dev)</c:v>
                </c:pt>
              </c:strCache>
            </c:strRef>
          </c:tx>
          <c:spPr>
            <a:solidFill>
              <a:srgbClr val="3A6EA5"/>
            </a:solidFill>
            <a:effectLst/>
          </c:spPr>
          <c:invertIfNegative val="0"/>
          <c:dLbls>
            <c:numFmt formatCode="+0.00;−0.00;0.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3A6EA5"/>
              </a:solidFill>
              <a:effectLst/>
            </c:spPr>
          </c:dPt>
          <c:dPt>
            <c:idx val="1"/>
            <c:invertIfNegative val="0"/>
            <c:bubble3D val="0"/>
            <c:spPr>
              <a:solidFill>
                <a:srgbClr val="C8385A"/>
              </a:solidFill>
              <a:effectLst/>
            </c:spPr>
          </c:dPt>
          <c:dPt>
            <c:idx val="2"/>
            <c:invertIfNegative val="0"/>
            <c:bubble3D val="0"/>
            <c:spPr>
              <a:solidFill>
                <a:srgbClr val="E58FA3"/>
              </a:solidFill>
              <a:effectLst/>
            </c:spPr>
          </c:dPt>
          <c:cat>
            <c:multiLvlStrRef>
              <c:f>Sheet1!$A$2:$A$4</c:f>
              <c:multiLvlStrCache>
                <c:ptCount val="3"/>
                <c:lvl>
                  <c:pt idx="0">
                    <c:v>DAT</c:v>
                  </c:pt>
                  <c:pt idx="1">
                    <c:v>J1</c:v>
                  </c:pt>
                  <c:pt idx="2">
                    <c:v>J3</c:v>
                  </c:pt>
                </c:lvl>
              </c:multiLvlStrCache>
            </c:multiLvlStrRef>
          </c:cat>
          <c:val>
            <c:numRef>
              <c:f>Sheet1!$B$2:$B$4</c:f>
              <c:numCache>
                <c:formatCode>General</c:formatCode>
                <c:ptCount val="3"/>
                <c:pt idx="0">
                  <c:v>-1.32</c:v>
                </c:pt>
                <c:pt idx="1">
                  <c:v>-0.79</c:v>
                </c:pt>
                <c:pt idx="2">
                  <c:v>-0.94</c:v>
                </c:pt>
              </c:numCache>
            </c:numRef>
          </c:val>
        </c:ser>
        <c:dLbls>
          <c:numFmt formatCode="+0.00;−0.00;0.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0.5"/>
          <c:min val="-2"/>
        </c:scaling>
        <c:delete val="0"/>
        <c:axPos val="l"/>
        <c:majorGridlines>
          <c:spPr>
            <a:ln w="6350" cap="flat">
              <a:solidFill>
                <a:srgbClr val="D5DC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30 seconds)
Hello everyone. We are Rihab Atwi, Ibrahim Shawraba and Sophie Aoun, and this is our project for Data Science for Conversational AI with Dr. Ahmad Abboud.
Our project is called JevFusion. We start from a 2025 paper, DAT, which improves hybrid retrieval for RAG by asking an LLM to decide, for each question, how much to trust keyword search versus semantic search. We reproduced DAT and then tested whether a smaller, specialized decision model, Jev, can do that judging job cheaper and better. We tested it on two datasets, SQuAD and the medical BEIR NFCorpus.
I will first explain the baseline, then our extension, then the results on each dataset, and finish with our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2 minutes)
The problem. RAG systems often combine two retrievers: BM25, which matches exact words, and dense retrieval, which matches meaning. The usual way to combine them is a fixed weight alpha: score = alpha times dense plus one minus alpha times BM25, with the same alpha for every query. But for some questions BM25 finds the answer and for others dense retrieval does, so one fixed weight cannot follow that.
The baseline, DAT (Hsu and Tzeng, 2025), sets alpha per query. It takes only the top-1 document of each retriever and asks an LLM, GPT-4o-mini, to score both on a 0 to 5 rubric, where 5 means a direct hit. A simple rule turns the two scores into alpha: if one side gets a 5 and the other does not, alpha goes all the way to that retriever; otherwise alpha is the dense score divided by the sum. Then the two score lists are fused with that alpha.
The paper's result on SQuAD: DAT reaches 86.76 P@1 against 84.61 for the best fixed weight. We reproduced it on our own SQuAD sample: DAT beats the fixed weight by 1.64 P@1 points, and the confidence interval is above zero, so the gain is real.
The limitation, stated by the DAT paper itself: every query needs a call to a general-purpose LLM, which adds cost and latency. That is what our extension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2 minutes)
Our idea: keep everything in DAT that works, and change only the judge. On the left is DAT: GPT-4o-mini reads one free-text prompt and replies with two digits. On the right is JevFusion: we send the same documents to Jev, a decision model made for answering typed questions. For each document we ask one "score" question whose six levels are exactly DAT's rubric, and Jev returns a probability for each level. We take the most likely level as the integer score.
Everything else is shared: the same retrieval at the top, and at the bottom the same alpha rule and the same fusion. Example: if the dense top-1 gets a 5 and the BM25 top-1 gets a 2, the rule sets alpha to 1, so the ranking follows dense retrieval.
We test two variants. J1 judges the same top-1 documents as DAT. J3 judges the top-3 of each retriever and averages the levels with weights 1, one half and one third, to test DAT's claim that the top-1 is enough.
Our three research questions: can Jev replace GPT-4o-mini at lower cost; does top-3 beat top-1; and is any judge worth its cost compared with a tuned fixed weight.
To keep it fair, every choice was fixed on tuning data before we looked at the test sets, and we ran a second dataset, BEIR NFCorpus, zero-shot.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2 minutes)
Two panels, one per dataset. The bars show each judge minus the tuned fixed weight, so above zero means the judge helps and below zero means it hurts. Numbers in brackets are 95% paired bootstrap confidence intervals.
SQuAD (2,996 questions, one correct paragraph per question). All three judges beat the tuned fixed weight. Jev J1 is the best: +3.27 P@1 over the fixed weight, and +1.64 over DAT with an interval above zero, so it beats DAT. The main reason: when exactly one retriever is right, Jev pushes alpha the wrong way on only 1.3% of those questions, against 8.4% for GPT-4o-mini. Judging the top-3 (J3) is worse than the top-1, by 1.90 points: with only one correct paragraph, documents 2 and 3 are wrong by construction and dilute the correct retriever's score.
NFCorpus (323 medical queries, many relevant documents each, dense retrieval much stronger than BM25). Here no judge beats the fixed weight tuned on the dev split (0.8); DAT and J3 are significantly below it. J1 versus DAT is +0.53 but the interval crosses zero, so it is inconclusive, not a tie. The top-3 penalty disappears. One reason: DAT's rule puts alpha at 0.5 on every tie, and ties happen on 35 to 47% of queries, while the best weight here is 0.8.
On both datasets Jev is 2.3 to 2.6 times cheaper per judge call, and faster on 81% and 94% of queries. These savings are for the judge call only, not the whole RAG pipeline.
Take-away: a specialized judge is a cheaper drop-in for DAT's judge, but always compare against a tuned fixed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1 minute)
Three take-aways.
First: a specialized decision model is a practical replacement for DAT's general-purpose judge. On both datasets Jev costs 2.3 to 2.6 times less per judge call and is faster on most queries, and on SQuAD it is also more accurate. Note that the savings are for the judge call only, not the whole RAG pipeline.
Second: DAT's claim that the top-1 document is enough holds in our data. Judging the top-3 hurt on SQuAD and never helped.
Third, and this is the most important for anyone deploying this: whether a judge helps at all depends on the dataset. On SQuAD every judge beats a tuned fixed weight; on NFCorpus none does. So always compare against a tuned fixed weight.
That leads to our next steps: keep the tuned weight and only leave it when the judge gives a clear reason, which is the idea behind a gate; test on larger multi-relevant test sets, since 323 queries could not separate J1 from DAT; and add more datasets such as DAT's Chinese DRCD.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15 seconds)
Thank you for listening. We are happy to take questions.
If asked for details: the full paper (ACL format) has all tables with confidence intervals, the reproduction against the DAT paper, the analysis of why J1 beats DAT and why top-3 hurts, and the limitations. The total API cost of the whole project was $1.7144 out of a $20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tx2"/>
                </a:solidFill>
              </a:rPr>
              <a:t>JevFusion  |  Data Science for Conversational AI  |  Lebanese University</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560320"/>
            <a:ext cx="10543032" cy="1280160"/>
          </a:xfrm>
          <a:prstGeom prst="rect">
            <a:avLst/>
          </a:prstGeom>
          <a:noFill/>
          <a:ln/>
        </p:spPr>
        <p:txBody>
          <a:bodyPr wrap="square" rtlCol="0"/>
          <a:lstStyle>
            <a:lvl1pPr algn="ctr" indent="0" marL="0">
              <a:buNone/>
              <a:defRPr lang="en-US" sz="3200" b="1" dirty="0">
                <a:solidFill>
                  <a:schemeClr val="bg1"/>
                </a:solidFill>
              </a:defRPr>
            </a:lvl1pPr>
          </a:lstStyle>
          <a:p>
            <a:pPr algn="ctr"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10543032" cy="1280160"/>
          </a:xfrm>
          <a:prstGeom prst="rect">
            <a:avLst/>
          </a:prstGeom>
          <a:noFill/>
          <a:ln/>
        </p:spPr>
        <p:txBody>
          <a:bodyPr wrap="square" rtlCol="0"/>
          <a:lstStyle>
            <a:lvl1pPr algn="ctr" indent="0" marL="0">
              <a:buNone/>
              <a:defRPr lang="en-US" sz="5400" b="1" dirty="0">
                <a:solidFill>
                  <a:schemeClr val="bg1"/>
                </a:solidFill>
              </a:defRPr>
            </a:lvl1pPr>
          </a:lstStyle>
          <a:p>
            <a:pPr algn="ctr"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560320"/>
            <a:ext cx="10543032" cy="1280160"/>
          </a:xfrm>
          <a:prstGeom prst="rect">
            <a:avLst/>
          </a:prstGeom>
          <a:noFill/>
          <a:ln/>
        </p:spPr>
        <p:txBody>
          <a:bodyPr wrap="square" lIns="0" tIns="0" rIns="0" bIns="0" rtlCol="0" anchor="ctr"/>
          <a:lstStyle/>
          <a:p>
            <a:pPr algn="ctr" indent="0" marL="0">
              <a:buNone/>
            </a:pPr>
            <a:r>
              <a:rPr lang="en-US" sz="3200" b="1" dirty="0">
                <a:solidFill>
                  <a:schemeClr val="bg1"/>
                </a:solidFill>
              </a:rPr>
              <a:t>JevFusion: Evaluating a Specialized Decision Model for Cost-Efficient Adaptive Hybrid Retrieval</a:t>
            </a:r>
            <a:endParaRPr lang="en-US" sz="3200" dirty="0"/>
          </a:p>
        </p:txBody>
      </p:sp>
      <p:sp>
        <p:nvSpPr>
          <p:cNvPr id="3" name="logo card"/>
          <p:cNvSpPr/>
          <p:nvPr/>
        </p:nvSpPr>
        <p:spPr>
          <a:xfrm>
            <a:off x="5161297" y="384048"/>
            <a:ext cx="1869101" cy="1828800"/>
          </a:xfrm>
          <a:prstGeom prst="roundRect">
            <a:avLst>
              <a:gd name="adj" fmla="val 10000"/>
            </a:avLst>
          </a:prstGeom>
          <a:solidFill>
            <a:srgbClr val="FFFFFF"/>
          </a:solidFill>
          <a:ln w="12700">
            <a:solidFill>
              <a:srgbClr val="FFFFFF"/>
            </a:solidFill>
            <a:prstDash val="solid"/>
          </a:ln>
        </p:spPr>
      </p:sp>
      <p:pic>
        <p:nvPicPr>
          <p:cNvPr id="4" name="faculty logo" descr="Faculty of Science, Lebanese University logo">    </p:cNvPr>
          <p:cNvPicPr>
            <a:picLocks noChangeAspect="1"/>
          </p:cNvPicPr>
          <p:nvPr/>
        </p:nvPicPr>
        <p:blipFill>
          <a:blip r:embed="rId1"/>
          <a:stretch>
            <a:fillRect/>
          </a:stretch>
        </p:blipFill>
        <p:spPr>
          <a:xfrm>
            <a:off x="5298457" y="521208"/>
            <a:ext cx="1594781" cy="1554480"/>
          </a:xfrm>
          <a:prstGeom prst="rect">
            <a:avLst/>
          </a:prstGeom>
        </p:spPr>
      </p:pic>
      <p:sp>
        <p:nvSpPr>
          <p:cNvPr id="5" name="subtitle"/>
          <p:cNvSpPr txBox="1"/>
          <p:nvPr/>
        </p:nvSpPr>
        <p:spPr>
          <a:xfrm>
            <a:off x="822960" y="3886200"/>
            <a:ext cx="10543032" cy="411480"/>
          </a:xfrm>
          <a:prstGeom prst="rect">
            <a:avLst/>
          </a:prstGeom>
          <a:noFill/>
          <a:ln/>
        </p:spPr>
        <p:txBody>
          <a:bodyPr wrap="square" lIns="0" tIns="0" rIns="0" bIns="0" rtlCol="0" anchor="ctr"/>
          <a:lstStyle/>
          <a:p>
            <a:pPr algn="ctr" indent="0" marL="0">
              <a:buNone/>
            </a:pPr>
            <a:r>
              <a:rPr lang="en-US" sz="1600" i="1" dirty="0">
                <a:solidFill>
                  <a:srgbClr val="DCE6F2"/>
                </a:solidFill>
              </a:rPr>
              <a:t>Extending DAT (Hsu and Tzeng, 2025)  |  Course project, Data Science for Conversational AI</a:t>
            </a:r>
            <a:endParaRPr lang="en-US" sz="1600" dirty="0"/>
          </a:p>
        </p:txBody>
      </p:sp>
      <p:sp>
        <p:nvSpPr>
          <p:cNvPr id="6" name="students"/>
          <p:cNvSpPr txBox="1"/>
          <p:nvPr/>
        </p:nvSpPr>
        <p:spPr>
          <a:xfrm>
            <a:off x="822960" y="4572000"/>
            <a:ext cx="10543032" cy="502920"/>
          </a:xfrm>
          <a:prstGeom prst="rect">
            <a:avLst/>
          </a:prstGeom>
          <a:noFill/>
          <a:ln/>
        </p:spPr>
        <p:txBody>
          <a:bodyPr wrap="square" lIns="0" tIns="0" rIns="0" bIns="0" rtlCol="0" anchor="ctr"/>
          <a:lstStyle/>
          <a:p>
            <a:pPr algn="ctr" indent="0" marL="0">
              <a:buNone/>
            </a:pPr>
            <a:r>
              <a:rPr lang="en-US" sz="2200" b="1" dirty="0">
                <a:solidFill>
                  <a:schemeClr val="bg1"/>
                </a:solidFill>
              </a:rPr>
              <a:t>Rihab Atwi   ·   Ibrahim Shawraba   ·   Sophie Aoun</a:t>
            </a:r>
            <a:endParaRPr lang="en-US" sz="2200" dirty="0"/>
          </a:p>
        </p:txBody>
      </p:sp>
      <p:sp>
        <p:nvSpPr>
          <p:cNvPr id="7" name="instructor"/>
          <p:cNvSpPr txBox="1"/>
          <p:nvPr/>
        </p:nvSpPr>
        <p:spPr>
          <a:xfrm>
            <a:off x="822960" y="5120640"/>
            <a:ext cx="10543032" cy="411480"/>
          </a:xfrm>
          <a:prstGeom prst="rect">
            <a:avLst/>
          </a:prstGeom>
          <a:noFill/>
          <a:ln/>
        </p:spPr>
        <p:txBody>
          <a:bodyPr wrap="square" lIns="0" tIns="0" rIns="0" bIns="0" rtlCol="0" anchor="ctr"/>
          <a:lstStyle/>
          <a:p>
            <a:pPr algn="ctr" indent="0" marL="0">
              <a:buNone/>
            </a:pPr>
            <a:r>
              <a:rPr lang="en-US" sz="1800" dirty="0">
                <a:solidFill>
                  <a:schemeClr val="bg1"/>
                </a:solidFill>
              </a:rPr>
              <a:t>Instructor: Dr. Ahmad Abboud</a:t>
            </a:r>
            <a:endParaRPr lang="en-US" sz="1800" dirty="0"/>
          </a:p>
        </p:txBody>
      </p:sp>
      <p:sp>
        <p:nvSpPr>
          <p:cNvPr id="8" name="affiliation"/>
          <p:cNvSpPr txBox="1"/>
          <p:nvPr/>
        </p:nvSpPr>
        <p:spPr>
          <a:xfrm>
            <a:off x="822960" y="5806440"/>
            <a:ext cx="10543032" cy="365760"/>
          </a:xfrm>
          <a:prstGeom prst="rect">
            <a:avLst/>
          </a:prstGeom>
          <a:noFill/>
          <a:ln/>
        </p:spPr>
        <p:txBody>
          <a:bodyPr wrap="square" lIns="0" tIns="0" rIns="0" bIns="0" rtlCol="0" anchor="ctr"/>
          <a:lstStyle/>
          <a:p>
            <a:pPr algn="ctr" indent="0" marL="0">
              <a:buNone/>
            </a:pPr>
            <a:r>
              <a:rPr lang="en-US" sz="1400" dirty="0">
                <a:solidFill>
                  <a:srgbClr val="DCE6F2"/>
                </a:solidFill>
              </a:rPr>
              <a:t>Faculty of Science, Lebanese University  |  Beirut, Lebanon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Baseline: DAT picks α per query with an LLM judge</a:t>
            </a:r>
            <a:endParaRPr lang="en-US" sz="3200" dirty="0"/>
          </a:p>
        </p:txBody>
      </p:sp>
      <p:sp>
        <p:nvSpPr>
          <p:cNvPr id="3" name="query"/>
          <p:cNvSpPr txBox="1"/>
          <p:nvPr/>
        </p:nvSpPr>
        <p:spPr>
          <a:xfrm>
            <a:off x="548640" y="2103120"/>
            <a:ext cx="1280160" cy="914400"/>
          </a:xfrm>
          <a:prstGeom prst="roundRect">
            <a:avLst>
              <a:gd name="adj" fmla="val 8000"/>
            </a:avLst>
          </a:prstGeom>
          <a:solidFill>
            <a:srgbClr val="EEF2F7"/>
          </a:solidFill>
          <a:ln w="15875">
            <a:solidFill>
              <a:srgbClr val="8A94A6"/>
            </a:solidFill>
          </a:ln>
        </p:spPr>
        <p:txBody>
          <a:bodyPr wrap="square" lIns="50800" tIns="50800" rIns="50800" bIns="50800" rtlCol="0" anchor="ctr"/>
          <a:lstStyle/>
          <a:p>
            <a:pPr algn="ctr" indent="0" marL="0">
              <a:buNone/>
            </a:pPr>
            <a:r>
              <a:rPr lang="en-US" sz="1400" b="1" dirty="0">
                <a:solidFill>
                  <a:schemeClr val="tx1"/>
                </a:solidFill>
              </a:rPr>
              <a:t>Query </a:t>
            </a:r>
            <a:pPr algn="ctr" indent="0" marL="0">
              <a:buNone/>
            </a:pPr>
            <a:r>
              <a:rPr lang="en-US" sz="1400" b="1" i="1" dirty="0">
                <a:solidFill>
                  <a:schemeClr val="tx1"/>
                </a:solidFill>
              </a:rPr>
              <a:t>q</a:t>
            </a:r>
            <a:endParaRPr lang="en-US" sz="1400" dirty="0"/>
          </a:p>
        </p:txBody>
      </p:sp>
      <p:sp>
        <p:nvSpPr>
          <p:cNvPr id="4" name="bm25"/>
          <p:cNvSpPr txBox="1"/>
          <p:nvPr/>
        </p:nvSpPr>
        <p:spPr>
          <a:xfrm>
            <a:off x="2212848" y="1508760"/>
            <a:ext cx="1828800" cy="914400"/>
          </a:xfrm>
          <a:prstGeom prst="roundRect">
            <a:avLst>
              <a:gd name="adj" fmla="val 8000"/>
            </a:avLst>
          </a:prstGeom>
          <a:solidFill>
            <a:srgbClr val="EEF2F7"/>
          </a:solidFill>
          <a:ln w="15875">
            <a:solidFill>
              <a:srgbClr val="8A94A6"/>
            </a:solidFill>
          </a:ln>
        </p:spPr>
        <p:txBody>
          <a:bodyPr wrap="square" lIns="50800" tIns="50800" rIns="50800" bIns="50800" rtlCol="0" anchor="ctr"/>
          <a:lstStyle/>
          <a:p>
            <a:pPr algn="ctr" indent="0" marL="0">
              <a:buNone/>
            </a:pPr>
            <a:r>
              <a:rPr lang="en-US" sz="1400" b="1" dirty="0">
                <a:solidFill>
                  <a:schemeClr val="tx1"/>
                </a:solidFill>
              </a:rPr>
              <a:t>BM25</a:t>
            </a:r>
            <a:endParaRPr lang="en-US" sz="1400" dirty="0"/>
          </a:p>
          <a:p>
            <a:pPr algn="ctr" indent="0" marL="0">
              <a:buNone/>
            </a:pPr>
            <a:r>
              <a:rPr lang="en-US" sz="1400" dirty="0">
                <a:solidFill>
                  <a:schemeClr val="tx1"/>
                </a:solidFill>
              </a:rPr>
              <a:t>top-1 document</a:t>
            </a:r>
            <a:endParaRPr lang="en-US" sz="1400" dirty="0"/>
          </a:p>
        </p:txBody>
      </p:sp>
      <p:sp>
        <p:nvSpPr>
          <p:cNvPr id="5" name="dense"/>
          <p:cNvSpPr txBox="1"/>
          <p:nvPr/>
        </p:nvSpPr>
        <p:spPr>
          <a:xfrm>
            <a:off x="2212848" y="2697480"/>
            <a:ext cx="1828800" cy="914400"/>
          </a:xfrm>
          <a:prstGeom prst="roundRect">
            <a:avLst>
              <a:gd name="adj" fmla="val 8000"/>
            </a:avLst>
          </a:prstGeom>
          <a:solidFill>
            <a:srgbClr val="EEF2F7"/>
          </a:solidFill>
          <a:ln w="15875">
            <a:solidFill>
              <a:srgbClr val="8A94A6"/>
            </a:solidFill>
          </a:ln>
        </p:spPr>
        <p:txBody>
          <a:bodyPr wrap="square" lIns="50800" tIns="50800" rIns="50800" bIns="50800" rtlCol="0" anchor="ctr"/>
          <a:lstStyle/>
          <a:p>
            <a:pPr algn="ctr" indent="0" marL="0">
              <a:buNone/>
            </a:pPr>
            <a:r>
              <a:rPr lang="en-US" sz="1400" b="1" dirty="0">
                <a:solidFill>
                  <a:schemeClr val="tx1"/>
                </a:solidFill>
              </a:rPr>
              <a:t>Dense</a:t>
            </a:r>
            <a:endParaRPr lang="en-US" sz="1400" dirty="0"/>
          </a:p>
          <a:p>
            <a:pPr algn="ctr" indent="0" marL="0">
              <a:buNone/>
            </a:pPr>
            <a:r>
              <a:rPr lang="en-US" sz="1400" dirty="0">
                <a:solidFill>
                  <a:schemeClr val="tx1"/>
                </a:solidFill>
              </a:rPr>
              <a:t>top-1 document</a:t>
            </a:r>
            <a:endParaRPr lang="en-US" sz="1400" dirty="0"/>
          </a:p>
        </p:txBody>
      </p:sp>
      <p:sp>
        <p:nvSpPr>
          <p:cNvPr id="6" name="judge"/>
          <p:cNvSpPr txBox="1"/>
          <p:nvPr/>
        </p:nvSpPr>
        <p:spPr>
          <a:xfrm>
            <a:off x="4425696" y="1508760"/>
            <a:ext cx="2103120" cy="2103120"/>
          </a:xfrm>
          <a:prstGeom prst="roundRect">
            <a:avLst>
              <a:gd name="adj" fmla="val 3478"/>
            </a:avLst>
          </a:prstGeom>
          <a:solidFill>
            <a:srgbClr val="DCE6F2"/>
          </a:solidFill>
          <a:ln w="15875">
            <a:solidFill>
              <a:srgbClr val="3A6EA5"/>
            </a:solidFill>
          </a:ln>
        </p:spPr>
        <p:txBody>
          <a:bodyPr wrap="square" lIns="50800" tIns="50800" rIns="50800" bIns="50800" rtlCol="0" anchor="ctr"/>
          <a:lstStyle/>
          <a:p>
            <a:pPr algn="ctr" indent="0" marL="0">
              <a:buNone/>
            </a:pPr>
            <a:r>
              <a:rPr lang="en-US" sz="1400" b="1" dirty="0">
                <a:solidFill>
                  <a:schemeClr val="accent1"/>
                </a:solidFill>
              </a:rPr>
              <a:t>LLM judge</a:t>
            </a:r>
            <a:endParaRPr lang="en-US" sz="1400" dirty="0"/>
          </a:p>
          <a:p>
            <a:pPr algn="ctr" indent="0" marL="0">
              <a:buNone/>
            </a:pPr>
            <a:r>
              <a:rPr lang="en-US" sz="1400" b="1" dirty="0">
                <a:solidFill>
                  <a:schemeClr val="tx1"/>
                </a:solidFill>
              </a:rPr>
              <a:t>GPT-4o-mini</a:t>
            </a:r>
            <a:endParaRPr lang="en-US" sz="1400" dirty="0"/>
          </a:p>
          <a:p>
            <a:pPr algn="ctr" indent="0" marL="0">
              <a:buNone/>
            </a:pPr>
            <a:r>
              <a:rPr lang="en-US" sz="1400" dirty="0">
                <a:solidFill>
                  <a:schemeClr val="tx1"/>
                </a:solidFill>
              </a:rPr>
              <a:t> </a:t>
            </a:r>
            <a:endParaRPr lang="en-US" sz="1400" dirty="0"/>
          </a:p>
          <a:p>
            <a:pPr algn="ctr" indent="0" marL="0">
              <a:buNone/>
            </a:pPr>
            <a:r>
              <a:rPr lang="en-US" sz="1400" dirty="0">
                <a:solidFill>
                  <a:schemeClr val="tx1"/>
                </a:solidFill>
              </a:rPr>
              <a:t>scores each top-1</a:t>
            </a:r>
            <a:endParaRPr lang="en-US" sz="1400" dirty="0"/>
          </a:p>
          <a:p>
            <a:pPr algn="ctr" indent="0" marL="0">
              <a:buNone/>
            </a:pPr>
            <a:r>
              <a:rPr lang="en-US" sz="1400" dirty="0">
                <a:solidFill>
                  <a:schemeClr val="tx1"/>
                </a:solidFill>
              </a:rPr>
              <a:t>on a 0–5 rubric</a:t>
            </a:r>
            <a:endParaRPr lang="en-US" sz="1400" dirty="0"/>
          </a:p>
          <a:p>
            <a:pPr algn="ctr" indent="0" marL="0">
              <a:buNone/>
            </a:pPr>
            <a:r>
              <a:rPr lang="en-US" sz="1400" dirty="0">
                <a:solidFill>
                  <a:schemeClr val="tx1"/>
                </a:solidFill>
              </a:rPr>
              <a:t>(5 = direct hit)</a:t>
            </a:r>
            <a:endParaRPr lang="en-US" sz="1400" dirty="0"/>
          </a:p>
        </p:txBody>
      </p:sp>
      <p:sp>
        <p:nvSpPr>
          <p:cNvPr id="7" name="rule"/>
          <p:cNvSpPr txBox="1"/>
          <p:nvPr/>
        </p:nvSpPr>
        <p:spPr>
          <a:xfrm>
            <a:off x="6912864" y="1508760"/>
            <a:ext cx="2103120" cy="2103120"/>
          </a:xfrm>
          <a:prstGeom prst="roundRect">
            <a:avLst>
              <a:gd name="adj" fmla="val 3478"/>
            </a:avLst>
          </a:prstGeom>
          <a:solidFill>
            <a:srgbClr val="EEF2F7"/>
          </a:solidFill>
          <a:ln w="15875">
            <a:solidFill>
              <a:srgbClr val="8A94A6"/>
            </a:solidFill>
          </a:ln>
        </p:spPr>
        <p:txBody>
          <a:bodyPr wrap="square" lIns="50800" tIns="50800" rIns="50800" bIns="50800" rtlCol="0" anchor="ctr"/>
          <a:lstStyle/>
          <a:p>
            <a:pPr algn="ctr" indent="0" marL="0">
              <a:buNone/>
            </a:pPr>
            <a:r>
              <a:rPr lang="en-US" sz="1400" b="1" dirty="0">
                <a:solidFill>
                  <a:schemeClr val="tx1"/>
                </a:solidFill>
              </a:rPr>
              <a:t>α rule (DAT Eq. 6)</a:t>
            </a:r>
            <a:endParaRPr lang="en-US" sz="1400" dirty="0"/>
          </a:p>
          <a:p>
            <a:pPr algn="ctr" indent="0" marL="0">
              <a:buNone/>
            </a:pPr>
            <a:r>
              <a:rPr lang="en-US" sz="1400" dirty="0">
                <a:solidFill>
                  <a:schemeClr val="tx1"/>
                </a:solidFill>
              </a:rPr>
              <a:t> </a:t>
            </a:r>
            <a:endParaRPr lang="en-US" sz="1400" dirty="0"/>
          </a:p>
          <a:p>
            <a:pPr algn="ctr" indent="0" marL="0">
              <a:buNone/>
            </a:pPr>
            <a:r>
              <a:rPr lang="en-US" sz="1400" dirty="0">
                <a:solidFill>
                  <a:schemeClr val="tx1"/>
                </a:solidFill>
              </a:rPr>
              <a:t>one side scores 5:</a:t>
            </a:r>
            <a:endParaRPr lang="en-US" sz="1400" dirty="0"/>
          </a:p>
          <a:p>
            <a:pPr algn="ctr" indent="0" marL="0">
              <a:buNone/>
            </a:pPr>
            <a:r>
              <a:rPr lang="en-US" sz="1400" dirty="0">
                <a:solidFill>
                  <a:schemeClr val="tx1"/>
                </a:solidFill>
              </a:rPr>
              <a:t>α = 1 or 0</a:t>
            </a:r>
            <a:endParaRPr lang="en-US" sz="1400" dirty="0"/>
          </a:p>
          <a:p>
            <a:pPr algn="ctr" indent="0" marL="0">
              <a:buNone/>
            </a:pPr>
            <a:r>
              <a:rPr lang="en-US" sz="1400" dirty="0">
                <a:solidFill>
                  <a:schemeClr val="tx1"/>
                </a:solidFill>
              </a:rPr>
              <a:t> </a:t>
            </a:r>
            <a:endParaRPr lang="en-US" sz="1400" dirty="0"/>
          </a:p>
          <a:p>
            <a:pPr algn="ctr" indent="0" marL="0">
              <a:buNone/>
            </a:pPr>
            <a:r>
              <a:rPr lang="en-US" sz="1400" dirty="0">
                <a:solidFill>
                  <a:schemeClr val="tx1"/>
                </a:solidFill>
              </a:rPr>
              <a:t>otherwise:</a:t>
            </a:r>
            <a:endParaRPr lang="en-US" sz="1400" dirty="0"/>
          </a:p>
          <a:p>
            <a:pPr algn="ctr" indent="0" marL="0">
              <a:buNone/>
            </a:pPr>
            <a:r>
              <a:rPr lang="en-US" sz="1400" dirty="0">
                <a:solidFill>
                  <a:schemeClr val="tx1"/>
                </a:solidFill>
              </a:rPr>
              <a:t>α = S</a:t>
            </a:r>
            <a:pPr algn="ctr" indent="0" marL="0">
              <a:buNone/>
            </a:pPr>
            <a:r>
              <a:rPr lang="en-US" sz="1400" baseline="-40000" dirty="0">
                <a:solidFill>
                  <a:schemeClr val="tx1"/>
                </a:solidFill>
              </a:rPr>
              <a:t>D</a:t>
            </a:r>
            <a:pPr algn="ctr" indent="0" marL="0">
              <a:buNone/>
            </a:pPr>
            <a:r>
              <a:rPr lang="en-US" sz="1400" dirty="0">
                <a:solidFill>
                  <a:schemeClr val="tx1"/>
                </a:solidFill>
              </a:rPr>
              <a:t> / (S</a:t>
            </a:r>
            <a:pPr algn="ctr" indent="0" marL="0">
              <a:buNone/>
            </a:pPr>
            <a:r>
              <a:rPr lang="en-US" sz="1400" baseline="-40000" dirty="0">
                <a:solidFill>
                  <a:schemeClr val="tx1"/>
                </a:solidFill>
              </a:rPr>
              <a:t>D</a:t>
            </a:r>
            <a:pPr algn="ctr" indent="0" marL="0">
              <a:buNone/>
            </a:pPr>
            <a:r>
              <a:rPr lang="en-US" sz="1400" dirty="0">
                <a:solidFill>
                  <a:schemeClr val="tx1"/>
                </a:solidFill>
              </a:rPr>
              <a:t> + S</a:t>
            </a:r>
            <a:pPr algn="ctr" indent="0" marL="0">
              <a:buNone/>
            </a:pPr>
            <a:r>
              <a:rPr lang="en-US" sz="1400" baseline="-40000" dirty="0">
                <a:solidFill>
                  <a:schemeClr val="tx1"/>
                </a:solidFill>
              </a:rPr>
              <a:t>B</a:t>
            </a:r>
            <a:pPr algn="ctr" indent="0" marL="0">
              <a:buNone/>
            </a:pPr>
            <a:r>
              <a:rPr lang="en-US" sz="1400" dirty="0">
                <a:solidFill>
                  <a:schemeClr val="tx1"/>
                </a:solidFill>
              </a:rPr>
              <a:t>)</a:t>
            </a:r>
            <a:endParaRPr lang="en-US" sz="1400" dirty="0"/>
          </a:p>
        </p:txBody>
      </p:sp>
      <p:sp>
        <p:nvSpPr>
          <p:cNvPr id="8" name="fusion"/>
          <p:cNvSpPr txBox="1"/>
          <p:nvPr/>
        </p:nvSpPr>
        <p:spPr>
          <a:xfrm>
            <a:off x="9400032" y="1508760"/>
            <a:ext cx="2240280" cy="2103120"/>
          </a:xfrm>
          <a:prstGeom prst="roundRect">
            <a:avLst>
              <a:gd name="adj" fmla="val 3478"/>
            </a:avLst>
          </a:prstGeom>
          <a:solidFill>
            <a:srgbClr val="EEF2F7"/>
          </a:solidFill>
          <a:ln w="15875">
            <a:solidFill>
              <a:srgbClr val="8A94A6"/>
            </a:solidFill>
          </a:ln>
        </p:spPr>
        <p:txBody>
          <a:bodyPr wrap="square" lIns="50800" tIns="50800" rIns="50800" bIns="50800" rtlCol="0" anchor="ctr"/>
          <a:lstStyle/>
          <a:p>
            <a:pPr algn="ctr" indent="0" marL="0">
              <a:buNone/>
            </a:pPr>
            <a:r>
              <a:rPr lang="en-US" sz="1400" b="1" dirty="0">
                <a:solidFill>
                  <a:schemeClr val="tx1"/>
                </a:solidFill>
              </a:rPr>
              <a:t>Hybrid ranking</a:t>
            </a:r>
            <a:endParaRPr lang="en-US" sz="1400" dirty="0"/>
          </a:p>
          <a:p>
            <a:pPr algn="ctr" indent="0" marL="0">
              <a:buNone/>
            </a:pPr>
            <a:r>
              <a:rPr lang="en-US" sz="1400" dirty="0">
                <a:solidFill>
                  <a:schemeClr val="tx1"/>
                </a:solidFill>
              </a:rPr>
              <a:t> </a:t>
            </a:r>
            <a:endParaRPr lang="en-US" sz="1400" dirty="0"/>
          </a:p>
          <a:p>
            <a:pPr algn="ctr" indent="0" marL="0">
              <a:buNone/>
            </a:pPr>
            <a:r>
              <a:rPr lang="en-US" sz="1400" dirty="0">
                <a:solidFill>
                  <a:schemeClr val="tx1"/>
                </a:solidFill>
              </a:rPr>
              <a:t>α · dense</a:t>
            </a:r>
            <a:endParaRPr lang="en-US" sz="1400" dirty="0"/>
          </a:p>
          <a:p>
            <a:pPr algn="ctr" indent="0" marL="0">
              <a:buNone/>
            </a:pPr>
            <a:r>
              <a:rPr lang="en-US" sz="1400" dirty="0">
                <a:solidFill>
                  <a:schemeClr val="tx1"/>
                </a:solidFill>
              </a:rPr>
              <a:t>+ (1 − α) · BM25</a:t>
            </a:r>
            <a:endParaRPr lang="en-US" sz="1400" dirty="0"/>
          </a:p>
          <a:p>
            <a:pPr algn="ctr" indent="0" marL="0">
              <a:buNone/>
            </a:pPr>
            <a:r>
              <a:rPr lang="en-US" sz="1400" dirty="0">
                <a:solidFill>
                  <a:schemeClr val="tx1"/>
                </a:solidFill>
              </a:rPr>
              <a:t>(min-max scores)</a:t>
            </a:r>
            <a:endParaRPr lang="en-US" sz="1400" dirty="0"/>
          </a:p>
        </p:txBody>
      </p:sp>
      <p:sp>
        <p:nvSpPr>
          <p:cNvPr id="9" name="Shape 7"/>
          <p:cNvSpPr/>
          <p:nvPr/>
        </p:nvSpPr>
        <p:spPr>
          <a:xfrm flipV="1">
            <a:off x="1828800" y="1965960"/>
            <a:ext cx="384048" cy="594360"/>
          </a:xfrm>
          <a:prstGeom prst="line">
            <a:avLst/>
          </a:prstGeom>
          <a:noFill/>
          <a:ln w="22225">
            <a:solidFill>
              <a:srgbClr val="4A5568"/>
            </a:solidFill>
            <a:prstDash val="solid"/>
            <a:tailEnd type="triangle"/>
          </a:ln>
        </p:spPr>
      </p:sp>
      <p:sp>
        <p:nvSpPr>
          <p:cNvPr id="10" name="Shape 8"/>
          <p:cNvSpPr/>
          <p:nvPr/>
        </p:nvSpPr>
        <p:spPr>
          <a:xfrm>
            <a:off x="1828800" y="2560320"/>
            <a:ext cx="384048" cy="594360"/>
          </a:xfrm>
          <a:prstGeom prst="line">
            <a:avLst/>
          </a:prstGeom>
          <a:noFill/>
          <a:ln w="22225">
            <a:solidFill>
              <a:srgbClr val="4A5568"/>
            </a:solidFill>
            <a:prstDash val="solid"/>
            <a:tailEnd type="triangle"/>
          </a:ln>
        </p:spPr>
      </p:sp>
      <p:sp>
        <p:nvSpPr>
          <p:cNvPr id="11" name="Shape 9"/>
          <p:cNvSpPr/>
          <p:nvPr/>
        </p:nvSpPr>
        <p:spPr>
          <a:xfrm>
            <a:off x="4041648" y="1965960"/>
            <a:ext cx="384048" cy="0"/>
          </a:xfrm>
          <a:prstGeom prst="line">
            <a:avLst/>
          </a:prstGeom>
          <a:noFill/>
          <a:ln w="22225">
            <a:solidFill>
              <a:srgbClr val="4A5568"/>
            </a:solidFill>
            <a:prstDash val="solid"/>
            <a:tailEnd type="triangle"/>
          </a:ln>
        </p:spPr>
      </p:sp>
      <p:sp>
        <p:nvSpPr>
          <p:cNvPr id="12" name="Shape 10"/>
          <p:cNvSpPr/>
          <p:nvPr/>
        </p:nvSpPr>
        <p:spPr>
          <a:xfrm>
            <a:off x="4041648" y="3154680"/>
            <a:ext cx="384048" cy="0"/>
          </a:xfrm>
          <a:prstGeom prst="line">
            <a:avLst/>
          </a:prstGeom>
          <a:noFill/>
          <a:ln w="22225">
            <a:solidFill>
              <a:srgbClr val="4A5568"/>
            </a:solidFill>
            <a:prstDash val="solid"/>
            <a:tailEnd type="triangle"/>
          </a:ln>
        </p:spPr>
      </p:sp>
      <p:sp>
        <p:nvSpPr>
          <p:cNvPr id="13" name="Shape 11"/>
          <p:cNvSpPr/>
          <p:nvPr/>
        </p:nvSpPr>
        <p:spPr>
          <a:xfrm>
            <a:off x="6528816" y="2560320"/>
            <a:ext cx="384048" cy="0"/>
          </a:xfrm>
          <a:prstGeom prst="line">
            <a:avLst/>
          </a:prstGeom>
          <a:noFill/>
          <a:ln w="22225">
            <a:solidFill>
              <a:srgbClr val="4A5568"/>
            </a:solidFill>
            <a:prstDash val="solid"/>
            <a:tailEnd type="triangle"/>
          </a:ln>
        </p:spPr>
      </p:sp>
      <p:sp>
        <p:nvSpPr>
          <p:cNvPr id="14" name="Shape 12"/>
          <p:cNvSpPr/>
          <p:nvPr/>
        </p:nvSpPr>
        <p:spPr>
          <a:xfrm>
            <a:off x="9015984" y="2560320"/>
            <a:ext cx="384048" cy="0"/>
          </a:xfrm>
          <a:prstGeom prst="line">
            <a:avLst/>
          </a:prstGeom>
          <a:noFill/>
          <a:ln w="22225">
            <a:solidFill>
              <a:srgbClr val="4A5568"/>
            </a:solidFill>
            <a:prstDash val="solid"/>
            <a:tailEnd type="triangle"/>
          </a:ln>
        </p:spPr>
      </p:sp>
      <p:sp>
        <p:nvSpPr>
          <p:cNvPr id="15" name="fixed note"/>
          <p:cNvSpPr txBox="1"/>
          <p:nvPr/>
        </p:nvSpPr>
        <p:spPr>
          <a:xfrm>
            <a:off x="548640" y="3749040"/>
            <a:ext cx="11091672" cy="365760"/>
          </a:xfrm>
          <a:prstGeom prst="rect">
            <a:avLst/>
          </a:prstGeom>
          <a:noFill/>
          <a:ln/>
        </p:spPr>
        <p:txBody>
          <a:bodyPr wrap="square" lIns="0" tIns="0" rIns="0" bIns="0" rtlCol="0" anchor="ctr"/>
          <a:lstStyle/>
          <a:p>
            <a:pPr indent="0" marL="0">
              <a:buNone/>
            </a:pPr>
            <a:r>
              <a:rPr lang="en-US" sz="1400" i="1" dirty="0">
                <a:solidFill>
                  <a:schemeClr val="tx2"/>
                </a:solidFill>
              </a:rPr>
              <a:t>Fixed-weight hybrid (the usual baseline): one α for every query, tuned once on held-out data</a:t>
            </a:r>
            <a:endParaRPr lang="en-US" sz="1400" dirty="0"/>
          </a:p>
        </p:txBody>
      </p:sp>
      <p:sp>
        <p:nvSpPr>
          <p:cNvPr id="16" name="card 1"/>
          <p:cNvSpPr/>
          <p:nvPr/>
        </p:nvSpPr>
        <p:spPr>
          <a:xfrm>
            <a:off x="548640" y="4343400"/>
            <a:ext cx="3611880" cy="1828800"/>
          </a:xfrm>
          <a:prstGeom prst="roundRect">
            <a:avLst>
              <a:gd name="adj" fmla="val 4000"/>
            </a:avLst>
          </a:prstGeom>
          <a:solidFill>
            <a:srgbClr val="EEF2F7"/>
          </a:solidFill>
          <a:ln w="12700">
            <a:solidFill>
              <a:srgbClr val="EEF2F7"/>
            </a:solidFill>
            <a:prstDash val="solid"/>
          </a:ln>
        </p:spPr>
      </p:sp>
      <p:sp>
        <p:nvSpPr>
          <p:cNvPr id="17" name="card 1 number"/>
          <p:cNvSpPr txBox="1"/>
          <p:nvPr/>
        </p:nvSpPr>
        <p:spPr>
          <a:xfrm>
            <a:off x="731520" y="4480560"/>
            <a:ext cx="324612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86.76 vs 84.61</a:t>
            </a:r>
            <a:endParaRPr lang="en-US" sz="3000" dirty="0"/>
          </a:p>
        </p:txBody>
      </p:sp>
      <p:sp>
        <p:nvSpPr>
          <p:cNvPr id="18" name="card 1 label"/>
          <p:cNvSpPr txBox="1"/>
          <p:nvPr/>
        </p:nvSpPr>
        <p:spPr>
          <a:xfrm>
            <a:off x="731520" y="5212080"/>
            <a:ext cx="3246120" cy="868680"/>
          </a:xfrm>
          <a:prstGeom prst="rect">
            <a:avLst/>
          </a:prstGeom>
          <a:noFill/>
          <a:ln/>
        </p:spPr>
        <p:txBody>
          <a:bodyPr wrap="square" lIns="0" tIns="0" rIns="0" bIns="0" rtlCol="0" anchor="t"/>
          <a:lstStyle/>
          <a:p>
            <a:pPr indent="0" marL="0">
              <a:buNone/>
            </a:pPr>
            <a:r>
              <a:rPr lang="en-US" sz="1400" dirty="0">
                <a:solidFill>
                  <a:schemeClr val="tx1"/>
                </a:solidFill>
              </a:rPr>
              <a:t>P@1 on SQuAD in the DAT paper: DAT with GPT-4o-mini vs the best fixed α (0.6)</a:t>
            </a:r>
            <a:endParaRPr lang="en-US" sz="1400" dirty="0"/>
          </a:p>
        </p:txBody>
      </p:sp>
      <p:sp>
        <p:nvSpPr>
          <p:cNvPr id="19" name="card 2"/>
          <p:cNvSpPr/>
          <p:nvPr/>
        </p:nvSpPr>
        <p:spPr>
          <a:xfrm>
            <a:off x="4370832" y="4343400"/>
            <a:ext cx="3611880" cy="1828800"/>
          </a:xfrm>
          <a:prstGeom prst="roundRect">
            <a:avLst>
              <a:gd name="adj" fmla="val 4000"/>
            </a:avLst>
          </a:prstGeom>
          <a:solidFill>
            <a:srgbClr val="EEF2F7"/>
          </a:solidFill>
          <a:ln w="12700">
            <a:solidFill>
              <a:srgbClr val="EEF2F7"/>
            </a:solidFill>
            <a:prstDash val="solid"/>
          </a:ln>
        </p:spPr>
      </p:sp>
      <p:sp>
        <p:nvSpPr>
          <p:cNvPr id="20" name="card 2 number"/>
          <p:cNvSpPr txBox="1"/>
          <p:nvPr/>
        </p:nvSpPr>
        <p:spPr>
          <a:xfrm>
            <a:off x="4553712" y="4480560"/>
            <a:ext cx="324612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+1.64</a:t>
            </a:r>
            <a:endParaRPr lang="en-US" sz="3000" dirty="0"/>
          </a:p>
        </p:txBody>
      </p:sp>
      <p:sp>
        <p:nvSpPr>
          <p:cNvPr id="21" name="card 2 label"/>
          <p:cNvSpPr txBox="1"/>
          <p:nvPr/>
        </p:nvSpPr>
        <p:spPr>
          <a:xfrm>
            <a:off x="4553712" y="5212080"/>
            <a:ext cx="3246120" cy="868680"/>
          </a:xfrm>
          <a:prstGeom prst="rect">
            <a:avLst/>
          </a:prstGeom>
          <a:noFill/>
          <a:ln/>
        </p:spPr>
        <p:txBody>
          <a:bodyPr wrap="square" lIns="0" tIns="0" rIns="0" bIns="0" rtlCol="0" anchor="t"/>
          <a:lstStyle/>
          <a:p>
            <a:pPr indent="0" marL="0">
              <a:buNone/>
            </a:pPr>
            <a:r>
              <a:rPr lang="en-US" sz="1400" dirty="0">
                <a:solidFill>
                  <a:schemeClr val="tx1"/>
                </a:solidFill>
              </a:rPr>
              <a:t>Our reproduction: DAT − fixed α = 0.6, P@1 points, 95% CI [+0.80, +2.47] (2,996 questions)</a:t>
            </a:r>
            <a:endParaRPr lang="en-US" sz="1400" dirty="0"/>
          </a:p>
        </p:txBody>
      </p:sp>
      <p:sp>
        <p:nvSpPr>
          <p:cNvPr id="22" name="card 3"/>
          <p:cNvSpPr/>
          <p:nvPr/>
        </p:nvSpPr>
        <p:spPr>
          <a:xfrm>
            <a:off x="8193024" y="4343400"/>
            <a:ext cx="3611880" cy="1828800"/>
          </a:xfrm>
          <a:prstGeom prst="roundRect">
            <a:avLst>
              <a:gd name="adj" fmla="val 4000"/>
            </a:avLst>
          </a:prstGeom>
          <a:solidFill>
            <a:srgbClr val="EEF2F7"/>
          </a:solidFill>
          <a:ln w="12700">
            <a:solidFill>
              <a:srgbClr val="EEF2F7"/>
            </a:solidFill>
            <a:prstDash val="solid"/>
          </a:ln>
        </p:spPr>
      </p:sp>
      <p:sp>
        <p:nvSpPr>
          <p:cNvPr id="23" name="card 3 number"/>
          <p:cNvSpPr txBox="1"/>
          <p:nvPr/>
        </p:nvSpPr>
        <p:spPr>
          <a:xfrm>
            <a:off x="8375904" y="4480560"/>
            <a:ext cx="3246120" cy="68580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1 LLM call / query</a:t>
            </a:r>
            <a:endParaRPr lang="en-US" sz="3000" dirty="0"/>
          </a:p>
        </p:txBody>
      </p:sp>
      <p:sp>
        <p:nvSpPr>
          <p:cNvPr id="24" name="card 3 label"/>
          <p:cNvSpPr txBox="1"/>
          <p:nvPr/>
        </p:nvSpPr>
        <p:spPr>
          <a:xfrm>
            <a:off x="8375904" y="5212080"/>
            <a:ext cx="3246120" cy="868680"/>
          </a:xfrm>
          <a:prstGeom prst="rect">
            <a:avLst/>
          </a:prstGeom>
          <a:noFill/>
          <a:ln/>
        </p:spPr>
        <p:txBody>
          <a:bodyPr wrap="square" lIns="0" tIns="0" rIns="0" bIns="0" rtlCol="0" anchor="t"/>
          <a:lstStyle/>
          <a:p>
            <a:pPr indent="0" marL="0">
              <a:buNone/>
            </a:pPr>
            <a:r>
              <a:rPr lang="en-US" sz="1400" dirty="0">
                <a:solidFill>
                  <a:schemeClr val="tx1"/>
                </a:solidFill>
              </a:rPr>
              <a:t>DAT's own stated limitation: a general-purpose LLM call for every query adds cost and latency</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Our extension: JevFusion swaps only the judge</a:t>
            </a:r>
            <a:endParaRPr lang="en-US" sz="3200" dirty="0"/>
          </a:p>
        </p:txBody>
      </p:sp>
      <p:sp>
        <p:nvSpPr>
          <p:cNvPr id="3" name="shared top"/>
          <p:cNvSpPr txBox="1"/>
          <p:nvPr/>
        </p:nvSpPr>
        <p:spPr>
          <a:xfrm>
            <a:off x="548640" y="1371600"/>
            <a:ext cx="6675120" cy="685800"/>
          </a:xfrm>
          <a:prstGeom prst="roundRect">
            <a:avLst>
              <a:gd name="adj" fmla="val 10667"/>
            </a:avLst>
          </a:prstGeom>
          <a:solidFill>
            <a:srgbClr val="FFFFFF"/>
          </a:solidFill>
          <a:ln w="15875">
            <a:solidFill>
              <a:srgbClr val="8A94A6"/>
            </a:solidFill>
          </a:ln>
        </p:spPr>
        <p:txBody>
          <a:bodyPr wrap="square" lIns="50800" tIns="50800" rIns="50800" bIns="50800" rtlCol="0" anchor="ctr"/>
          <a:lstStyle/>
          <a:p>
            <a:pPr algn="ctr" indent="0" marL="0">
              <a:buNone/>
            </a:pPr>
            <a:r>
              <a:rPr lang="en-US" sz="1400" b="1" dirty="0">
                <a:solidFill>
                  <a:schemeClr val="tx1"/>
                </a:solidFill>
              </a:rPr>
              <a:t>BM25 + dense retrieval over the whole corpus</a:t>
            </a:r>
            <a:endParaRPr lang="en-US" sz="1400" dirty="0"/>
          </a:p>
          <a:p>
            <a:pPr algn="ctr" indent="0" marL="0">
              <a:buNone/>
            </a:pPr>
            <a:r>
              <a:rPr lang="en-US" sz="1400" dirty="0">
                <a:solidFill>
                  <a:schemeClr val="tx1"/>
                </a:solidFill>
              </a:rPr>
              <a:t>top-k documents of each retriever  (k = 1; J3: k = 3)</a:t>
            </a:r>
            <a:endParaRPr lang="en-US" sz="1400" dirty="0"/>
          </a:p>
        </p:txBody>
      </p:sp>
      <p:sp>
        <p:nvSpPr>
          <p:cNvPr id="4" name="lane DAT"/>
          <p:cNvSpPr txBox="1"/>
          <p:nvPr/>
        </p:nvSpPr>
        <p:spPr>
          <a:xfrm>
            <a:off x="548640" y="2194560"/>
            <a:ext cx="3108960" cy="365760"/>
          </a:xfrm>
          <a:prstGeom prst="rect">
            <a:avLst/>
          </a:prstGeom>
          <a:noFill/>
          <a:ln/>
        </p:spPr>
        <p:txBody>
          <a:bodyPr wrap="square" lIns="0" tIns="0" rIns="0" bIns="0" rtlCol="0" anchor="ctr"/>
          <a:lstStyle/>
          <a:p>
            <a:pPr algn="ctr" indent="0" marL="0">
              <a:buNone/>
            </a:pPr>
            <a:r>
              <a:rPr lang="en-US" sz="1600" b="1" dirty="0">
                <a:solidFill>
                  <a:schemeClr val="accent1"/>
                </a:solidFill>
              </a:rPr>
              <a:t>DAT</a:t>
            </a:r>
            <a:endParaRPr lang="en-US" sz="1600" dirty="0"/>
          </a:p>
        </p:txBody>
      </p:sp>
      <p:sp>
        <p:nvSpPr>
          <p:cNvPr id="5" name="lane JevFusion"/>
          <p:cNvSpPr txBox="1"/>
          <p:nvPr/>
        </p:nvSpPr>
        <p:spPr>
          <a:xfrm>
            <a:off x="4114800" y="2194560"/>
            <a:ext cx="3108960" cy="365760"/>
          </a:xfrm>
          <a:prstGeom prst="rect">
            <a:avLst/>
          </a:prstGeom>
          <a:noFill/>
          <a:ln/>
        </p:spPr>
        <p:txBody>
          <a:bodyPr wrap="square" lIns="0" tIns="0" rIns="0" bIns="0" rtlCol="0" anchor="ctr"/>
          <a:lstStyle/>
          <a:p>
            <a:pPr algn="ctr" indent="0" marL="0">
              <a:buNone/>
            </a:pPr>
            <a:r>
              <a:rPr lang="en-US" sz="1600" b="1" dirty="0">
                <a:solidFill>
                  <a:schemeClr val="accent2"/>
                </a:solidFill>
              </a:rPr>
              <a:t>JevFusion</a:t>
            </a:r>
            <a:endParaRPr lang="en-US" sz="1600" dirty="0"/>
          </a:p>
        </p:txBody>
      </p:sp>
      <p:sp>
        <p:nvSpPr>
          <p:cNvPr id="6" name="DAT judge"/>
          <p:cNvSpPr txBox="1"/>
          <p:nvPr/>
        </p:nvSpPr>
        <p:spPr>
          <a:xfrm>
            <a:off x="548640" y="2606040"/>
            <a:ext cx="3108960" cy="960120"/>
          </a:xfrm>
          <a:prstGeom prst="roundRect">
            <a:avLst>
              <a:gd name="adj" fmla="val 7619"/>
            </a:avLst>
          </a:prstGeom>
          <a:solidFill>
            <a:srgbClr val="DCE6F2"/>
          </a:solidFill>
          <a:ln w="15875">
            <a:solidFill>
              <a:srgbClr val="3A6EA5"/>
            </a:solidFill>
          </a:ln>
        </p:spPr>
        <p:txBody>
          <a:bodyPr wrap="square" lIns="50800" tIns="50800" rIns="50800" bIns="50800" rtlCol="0" anchor="ctr"/>
          <a:lstStyle/>
          <a:p>
            <a:pPr algn="ctr" indent="0" marL="0">
              <a:buNone/>
            </a:pPr>
            <a:r>
              <a:rPr lang="en-US" sz="1400" b="1" dirty="0">
                <a:solidFill>
                  <a:schemeClr val="tx1"/>
                </a:solidFill>
              </a:rPr>
              <a:t>GPT-4o-mini</a:t>
            </a:r>
            <a:endParaRPr lang="en-US" sz="1400" dirty="0"/>
          </a:p>
          <a:p>
            <a:pPr algn="ctr" indent="0" marL="0">
              <a:buNone/>
            </a:pPr>
            <a:r>
              <a:rPr lang="en-US" sz="1400" dirty="0">
                <a:solidFill>
                  <a:schemeClr val="tx1"/>
                </a:solidFill>
              </a:rPr>
              <a:t>one free-text prompt with DAT's rubric</a:t>
            </a:r>
            <a:endParaRPr lang="en-US" sz="1400" dirty="0"/>
          </a:p>
        </p:txBody>
      </p:sp>
      <p:sp>
        <p:nvSpPr>
          <p:cNvPr id="7" name="Jev judge"/>
          <p:cNvSpPr txBox="1"/>
          <p:nvPr/>
        </p:nvSpPr>
        <p:spPr>
          <a:xfrm>
            <a:off x="4114800" y="2606040"/>
            <a:ext cx="3108960" cy="960120"/>
          </a:xfrm>
          <a:prstGeom prst="roundRect">
            <a:avLst>
              <a:gd name="adj" fmla="val 7619"/>
            </a:avLst>
          </a:prstGeom>
          <a:solidFill>
            <a:srgbClr val="F8DDE3"/>
          </a:solidFill>
          <a:ln w="15875">
            <a:solidFill>
              <a:srgbClr val="C8385A"/>
            </a:solidFill>
          </a:ln>
        </p:spPr>
        <p:txBody>
          <a:bodyPr wrap="square" lIns="50800" tIns="50800" rIns="50800" bIns="50800" rtlCol="0" anchor="ctr"/>
          <a:lstStyle/>
          <a:p>
            <a:pPr algn="ctr" indent="0" marL="0">
              <a:buNone/>
            </a:pPr>
            <a:r>
              <a:rPr lang="en-US" sz="1400" b="1" dirty="0">
                <a:solidFill>
                  <a:schemeClr val="tx1"/>
                </a:solidFill>
              </a:rPr>
              <a:t>Jev  (jev-1.13.0)</a:t>
            </a:r>
            <a:endParaRPr lang="en-US" sz="1400" dirty="0"/>
          </a:p>
          <a:p>
            <a:pPr algn="ctr" indent="0" marL="0">
              <a:buNone/>
            </a:pPr>
            <a:r>
              <a:rPr lang="en-US" sz="1400" dirty="0">
                <a:solidFill>
                  <a:schemeClr val="tx1"/>
                </a:solidFill>
              </a:rPr>
              <a:t>one request: a typed 6-level score question per document</a:t>
            </a:r>
            <a:endParaRPr lang="en-US" sz="1400" dirty="0"/>
          </a:p>
        </p:txBody>
      </p:sp>
      <p:sp>
        <p:nvSpPr>
          <p:cNvPr id="8" name="DAT ints"/>
          <p:cNvSpPr txBox="1"/>
          <p:nvPr/>
        </p:nvSpPr>
        <p:spPr>
          <a:xfrm>
            <a:off x="548640" y="3840480"/>
            <a:ext cx="3108960" cy="822960"/>
          </a:xfrm>
          <a:prstGeom prst="roundRect">
            <a:avLst>
              <a:gd name="adj" fmla="val 8889"/>
            </a:avLst>
          </a:prstGeom>
          <a:solidFill>
            <a:srgbClr val="DCE6F2"/>
          </a:solidFill>
          <a:ln w="15875">
            <a:solidFill>
              <a:srgbClr val="3A6EA5"/>
            </a:solidFill>
          </a:ln>
        </p:spPr>
        <p:txBody>
          <a:bodyPr wrap="square" lIns="50800" tIns="50800" rIns="50800" bIns="50800" rtlCol="0" anchor="ctr"/>
          <a:lstStyle/>
          <a:p>
            <a:pPr algn="ctr" indent="0" marL="0">
              <a:buNone/>
            </a:pPr>
            <a:r>
              <a:rPr lang="en-US" sz="1400" dirty="0">
                <a:solidFill>
                  <a:schemeClr val="tx1"/>
                </a:solidFill>
              </a:rPr>
              <a:t>reply “d b” read as the two integers</a:t>
            </a:r>
            <a:endParaRPr lang="en-US" sz="1400" dirty="0"/>
          </a:p>
        </p:txBody>
      </p:sp>
      <p:sp>
        <p:nvSpPr>
          <p:cNvPr id="9" name="Jev ints"/>
          <p:cNvSpPr txBox="1"/>
          <p:nvPr/>
        </p:nvSpPr>
        <p:spPr>
          <a:xfrm>
            <a:off x="4114800" y="3840480"/>
            <a:ext cx="3108960" cy="822960"/>
          </a:xfrm>
          <a:prstGeom prst="roundRect">
            <a:avLst>
              <a:gd name="adj" fmla="val 8889"/>
            </a:avLst>
          </a:prstGeom>
          <a:solidFill>
            <a:srgbClr val="F8DDE3"/>
          </a:solidFill>
          <a:ln w="15875">
            <a:solidFill>
              <a:srgbClr val="C8385A"/>
            </a:solidFill>
          </a:ln>
        </p:spPr>
        <p:txBody>
          <a:bodyPr wrap="square" lIns="50800" tIns="50800" rIns="50800" bIns="50800" rtlCol="0" anchor="ctr"/>
          <a:lstStyle/>
          <a:p>
            <a:pPr algn="ctr" indent="0" marL="0">
              <a:buNone/>
            </a:pPr>
            <a:r>
              <a:rPr lang="en-US" sz="1400" dirty="0">
                <a:solidFill>
                  <a:schemeClr val="tx1"/>
                </a:solidFill>
              </a:rPr>
              <a:t>most likely level per document</a:t>
            </a:r>
            <a:endParaRPr lang="en-US" sz="1400" dirty="0"/>
          </a:p>
          <a:p>
            <a:pPr algn="ctr" indent="0" marL="0">
              <a:buNone/>
            </a:pPr>
            <a:r>
              <a:rPr lang="en-US" sz="1400" dirty="0">
                <a:solidFill>
                  <a:schemeClr val="tx1"/>
                </a:solidFill>
              </a:rPr>
              <a:t>(J3: rank-weighted mean, rounded)</a:t>
            </a:r>
            <a:endParaRPr lang="en-US" sz="1400" dirty="0"/>
          </a:p>
        </p:txBody>
      </p:sp>
      <p:sp>
        <p:nvSpPr>
          <p:cNvPr id="10" name="shared bottom"/>
          <p:cNvSpPr txBox="1"/>
          <p:nvPr/>
        </p:nvSpPr>
        <p:spPr>
          <a:xfrm>
            <a:off x="548640" y="5257800"/>
            <a:ext cx="6675120" cy="868680"/>
          </a:xfrm>
          <a:prstGeom prst="roundRect">
            <a:avLst>
              <a:gd name="adj" fmla="val 8421"/>
            </a:avLst>
          </a:prstGeom>
          <a:solidFill>
            <a:srgbClr val="FFFFFF"/>
          </a:solidFill>
          <a:ln w="15875">
            <a:solidFill>
              <a:srgbClr val="8A94A6"/>
            </a:solidFill>
          </a:ln>
        </p:spPr>
        <p:txBody>
          <a:bodyPr wrap="square" lIns="50800" tIns="50800" rIns="50800" bIns="50800" rtlCol="0" anchor="ctr"/>
          <a:lstStyle/>
          <a:p>
            <a:pPr algn="ctr" indent="0" marL="0">
              <a:buNone/>
            </a:pPr>
            <a:r>
              <a:rPr lang="en-US" sz="1400" b="1" dirty="0">
                <a:solidFill>
                  <a:schemeClr val="tx1"/>
                </a:solidFill>
              </a:rPr>
              <a:t>same α rule (DAT Eq. 6)  →  same fusion and ranking</a:t>
            </a:r>
            <a:endParaRPr lang="en-US" sz="1400" dirty="0"/>
          </a:p>
          <a:p>
            <a:pPr algn="ctr" indent="0" marL="0">
              <a:buNone/>
            </a:pPr>
            <a:r>
              <a:rPr lang="en-US" sz="1400" i="1" dirty="0">
                <a:solidFill>
                  <a:schemeClr val="tx2"/>
                </a:solidFill>
              </a:rPr>
              <a:t>example: dense top-1 scored 5, BM25 top-1 scored 2  →  α = 1</a:t>
            </a:r>
            <a:endParaRPr lang="en-US" sz="1400" dirty="0"/>
          </a:p>
        </p:txBody>
      </p:sp>
      <p:sp>
        <p:nvSpPr>
          <p:cNvPr id="11" name="Shape 9"/>
          <p:cNvSpPr/>
          <p:nvPr/>
        </p:nvSpPr>
        <p:spPr>
          <a:xfrm>
            <a:off x="2103120" y="2057400"/>
            <a:ext cx="0" cy="137160"/>
          </a:xfrm>
          <a:prstGeom prst="line">
            <a:avLst/>
          </a:prstGeom>
          <a:noFill/>
          <a:ln w="22225">
            <a:solidFill>
              <a:srgbClr val="4A5568"/>
            </a:solidFill>
            <a:prstDash val="solid"/>
            <a:tailEnd type="triangle"/>
          </a:ln>
        </p:spPr>
      </p:sp>
      <p:sp>
        <p:nvSpPr>
          <p:cNvPr id="12" name="Shape 10"/>
          <p:cNvSpPr/>
          <p:nvPr/>
        </p:nvSpPr>
        <p:spPr>
          <a:xfrm>
            <a:off x="5669280" y="2057400"/>
            <a:ext cx="0" cy="137160"/>
          </a:xfrm>
          <a:prstGeom prst="line">
            <a:avLst/>
          </a:prstGeom>
          <a:noFill/>
          <a:ln w="22225">
            <a:solidFill>
              <a:srgbClr val="4A5568"/>
            </a:solidFill>
            <a:prstDash val="solid"/>
            <a:tailEnd type="triangle"/>
          </a:ln>
        </p:spPr>
      </p:sp>
      <p:sp>
        <p:nvSpPr>
          <p:cNvPr id="13" name="Shape 11"/>
          <p:cNvSpPr/>
          <p:nvPr/>
        </p:nvSpPr>
        <p:spPr>
          <a:xfrm>
            <a:off x="2103120" y="3566160"/>
            <a:ext cx="0" cy="274320"/>
          </a:xfrm>
          <a:prstGeom prst="line">
            <a:avLst/>
          </a:prstGeom>
          <a:noFill/>
          <a:ln w="22225">
            <a:solidFill>
              <a:srgbClr val="4A5568"/>
            </a:solidFill>
            <a:prstDash val="solid"/>
            <a:tailEnd type="triangle"/>
          </a:ln>
        </p:spPr>
      </p:sp>
      <p:sp>
        <p:nvSpPr>
          <p:cNvPr id="14" name="Shape 12"/>
          <p:cNvSpPr/>
          <p:nvPr/>
        </p:nvSpPr>
        <p:spPr>
          <a:xfrm>
            <a:off x="2103120" y="4663440"/>
            <a:ext cx="0" cy="594360"/>
          </a:xfrm>
          <a:prstGeom prst="line">
            <a:avLst/>
          </a:prstGeom>
          <a:noFill/>
          <a:ln w="22225">
            <a:solidFill>
              <a:srgbClr val="4A5568"/>
            </a:solidFill>
            <a:prstDash val="solid"/>
            <a:tailEnd type="triangle"/>
          </a:ln>
        </p:spPr>
      </p:sp>
      <p:sp>
        <p:nvSpPr>
          <p:cNvPr id="15" name="Shape 13"/>
          <p:cNvSpPr/>
          <p:nvPr/>
        </p:nvSpPr>
        <p:spPr>
          <a:xfrm>
            <a:off x="5669280" y="3566160"/>
            <a:ext cx="0" cy="274320"/>
          </a:xfrm>
          <a:prstGeom prst="line">
            <a:avLst/>
          </a:prstGeom>
          <a:noFill/>
          <a:ln w="22225">
            <a:solidFill>
              <a:srgbClr val="4A5568"/>
            </a:solidFill>
            <a:prstDash val="solid"/>
            <a:tailEnd type="triangle"/>
          </a:ln>
        </p:spPr>
      </p:sp>
      <p:sp>
        <p:nvSpPr>
          <p:cNvPr id="16" name="Shape 14"/>
          <p:cNvSpPr/>
          <p:nvPr/>
        </p:nvSpPr>
        <p:spPr>
          <a:xfrm>
            <a:off x="5669280" y="4663440"/>
            <a:ext cx="0" cy="594360"/>
          </a:xfrm>
          <a:prstGeom prst="line">
            <a:avLst/>
          </a:prstGeom>
          <a:noFill/>
          <a:ln w="22225">
            <a:solidFill>
              <a:srgbClr val="4A5568"/>
            </a:solidFill>
            <a:prstDash val="solid"/>
            <a:tailEnd type="triangle"/>
          </a:ln>
        </p:spPr>
      </p:sp>
      <p:sp>
        <p:nvSpPr>
          <p:cNvPr id="17" name="J1"/>
          <p:cNvSpPr txBox="1"/>
          <p:nvPr/>
        </p:nvSpPr>
        <p:spPr>
          <a:xfrm>
            <a:off x="7726680" y="1371600"/>
            <a:ext cx="3913632" cy="1143000"/>
          </a:xfrm>
          <a:prstGeom prst="roundRect">
            <a:avLst>
              <a:gd name="adj" fmla="val 6400"/>
            </a:avLst>
          </a:prstGeom>
          <a:solidFill>
            <a:srgbClr val="F8DDE3"/>
          </a:solidFill>
          <a:ln w="15875">
            <a:solidFill>
              <a:srgbClr val="C8385A"/>
            </a:solidFill>
          </a:ln>
        </p:spPr>
        <p:txBody>
          <a:bodyPr wrap="square" lIns="127000" tIns="127000" rIns="127000" bIns="127000" rtlCol="0" anchor="ctr"/>
          <a:lstStyle/>
          <a:p>
            <a:pPr algn="l" indent="0" marL="0">
              <a:buNone/>
            </a:pPr>
            <a:r>
              <a:rPr lang="en-US" sz="1400" b="1" dirty="0">
                <a:solidFill>
                  <a:schemeClr val="tx1"/>
                </a:solidFill>
              </a:rPr>
              <a:t>J1: judge the top-1 of each retriever</a:t>
            </a:r>
            <a:endParaRPr lang="en-US" sz="1400" dirty="0"/>
          </a:p>
          <a:p>
            <a:pPr algn="l" indent="0" marL="0">
              <a:buNone/>
            </a:pPr>
            <a:r>
              <a:rPr lang="en-US" sz="1400" dirty="0">
                <a:solidFill>
                  <a:schemeClr val="tx1"/>
                </a:solidFill>
              </a:rPr>
              <a:t>the same two documents DAT judges</a:t>
            </a:r>
            <a:endParaRPr lang="en-US" sz="1400" dirty="0"/>
          </a:p>
        </p:txBody>
      </p:sp>
      <p:sp>
        <p:nvSpPr>
          <p:cNvPr id="18" name="J3"/>
          <p:cNvSpPr txBox="1"/>
          <p:nvPr/>
        </p:nvSpPr>
        <p:spPr>
          <a:xfrm>
            <a:off x="7726680" y="2697480"/>
            <a:ext cx="3913632" cy="1143000"/>
          </a:xfrm>
          <a:prstGeom prst="roundRect">
            <a:avLst>
              <a:gd name="adj" fmla="val 6400"/>
            </a:avLst>
          </a:prstGeom>
          <a:solidFill>
            <a:srgbClr val="F8DDE3"/>
          </a:solidFill>
          <a:ln w="15875">
            <a:solidFill>
              <a:srgbClr val="C8385A"/>
            </a:solidFill>
          </a:ln>
        </p:spPr>
        <p:txBody>
          <a:bodyPr wrap="square" lIns="127000" tIns="127000" rIns="127000" bIns="127000" rtlCol="0" anchor="ctr"/>
          <a:lstStyle/>
          <a:p>
            <a:pPr algn="l" indent="0" marL="0">
              <a:buNone/>
            </a:pPr>
            <a:r>
              <a:rPr lang="en-US" sz="1400" b="1" dirty="0">
                <a:solidFill>
                  <a:schemeClr val="tx1"/>
                </a:solidFill>
              </a:rPr>
              <a:t>J3: judge the top-3 of each retriever</a:t>
            </a:r>
            <a:endParaRPr lang="en-US" sz="1400" dirty="0"/>
          </a:p>
          <a:p>
            <a:pPr algn="l" indent="0" marL="0">
              <a:buNone/>
            </a:pPr>
            <a:r>
              <a:rPr lang="en-US" sz="1400" dirty="0">
                <a:solidFill>
                  <a:schemeClr val="tx1"/>
                </a:solidFill>
              </a:rPr>
              <a:t>levels averaged with weights 1, 1/2, 1/3</a:t>
            </a:r>
            <a:endParaRPr lang="en-US" sz="1400" dirty="0"/>
          </a:p>
        </p:txBody>
      </p:sp>
      <p:sp>
        <p:nvSpPr>
          <p:cNvPr id="19" name="RQs"/>
          <p:cNvSpPr txBox="1"/>
          <p:nvPr/>
        </p:nvSpPr>
        <p:spPr>
          <a:xfrm>
            <a:off x="7726680" y="4069080"/>
            <a:ext cx="3913632" cy="146304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Research questions</a:t>
            </a:r>
            <a:endParaRPr lang="en-US" sz="1600" dirty="0"/>
          </a:p>
          <a:p>
            <a:pPr indent="0" marL="0">
              <a:spcAft>
                <a:spcPts val="600"/>
              </a:spcAft>
              <a:buNone/>
            </a:pPr>
            <a:r>
              <a:rPr lang="en-US" sz="1400" dirty="0">
                <a:solidFill>
                  <a:schemeClr val="tx1"/>
                </a:solidFill>
              </a:rPr>
              <a:t>RQ1  Can Jev replace GPT-4o-mini: as good, cheaper, faster?</a:t>
            </a:r>
            <a:endParaRPr lang="en-US" sz="1600" dirty="0"/>
          </a:p>
          <a:p>
            <a:pPr indent="0" marL="0">
              <a:spcAft>
                <a:spcPts val="600"/>
              </a:spcAft>
              <a:buNone/>
            </a:pPr>
            <a:r>
              <a:rPr lang="en-US" sz="1400" dirty="0">
                <a:solidFill>
                  <a:schemeClr val="tx1"/>
                </a:solidFill>
              </a:rPr>
              <a:t>RQ2  Does judging the top-3 beat the top-1?</a:t>
            </a:r>
            <a:endParaRPr lang="en-US" sz="1600" dirty="0"/>
          </a:p>
          <a:p>
            <a:pPr indent="0" marL="0">
              <a:spcAft>
                <a:spcPts val="600"/>
              </a:spcAft>
              <a:buNone/>
            </a:pPr>
            <a:r>
              <a:rPr lang="en-US" sz="1400" dirty="0">
                <a:solidFill>
                  <a:schemeClr val="tx1"/>
                </a:solidFill>
              </a:rPr>
              <a:t>RQ3  Is any judge worth it against a tuned fixed α?</a:t>
            </a:r>
            <a:endParaRPr lang="en-US" sz="1600" dirty="0"/>
          </a:p>
        </p:txBody>
      </p:sp>
      <p:sp>
        <p:nvSpPr>
          <p:cNvPr id="20" name="protocol"/>
          <p:cNvSpPr txBox="1"/>
          <p:nvPr/>
        </p:nvSpPr>
        <p:spPr>
          <a:xfrm>
            <a:off x="7726680" y="5623560"/>
            <a:ext cx="3913632" cy="548640"/>
          </a:xfrm>
          <a:prstGeom prst="rect">
            <a:avLst/>
          </a:prstGeom>
          <a:noFill/>
          <a:ln/>
        </p:spPr>
        <p:txBody>
          <a:bodyPr wrap="square" lIns="0" tIns="0" rIns="0" bIns="0" rtlCol="0" anchor="t"/>
          <a:lstStyle/>
          <a:p>
            <a:pPr indent="0" marL="0">
              <a:buNone/>
            </a:pPr>
            <a:r>
              <a:rPr lang="en-US" sz="1200" i="1" dirty="0">
                <a:solidFill>
                  <a:schemeClr val="tx2"/>
                </a:solidFill>
              </a:rPr>
              <a:t>All choices fixed on tuning data before the test runs; NFCorpus run zero-shot.</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Results: Jev is cheaper on both, better only on SQuAD</a:t>
            </a:r>
            <a:endParaRPr lang="en-US" sz="3200" dirty="0"/>
          </a:p>
        </p:txBody>
      </p:sp>
      <p:sp>
        <p:nvSpPr>
          <p:cNvPr id="3" name="SQuAD panel"/>
          <p:cNvSpPr/>
          <p:nvPr/>
        </p:nvSpPr>
        <p:spPr>
          <a:xfrm>
            <a:off x="548640" y="1325880"/>
            <a:ext cx="5413248" cy="4892040"/>
          </a:xfrm>
          <a:prstGeom prst="roundRect">
            <a:avLst>
              <a:gd name="adj" fmla="val 1495"/>
            </a:avLst>
          </a:prstGeom>
          <a:solidFill>
            <a:srgbClr val="EEF2F7"/>
          </a:solidFill>
          <a:ln w="12700">
            <a:solidFill>
              <a:srgbClr val="EEF2F7"/>
            </a:solidFill>
            <a:prstDash val="solid"/>
          </a:ln>
        </p:spPr>
      </p:sp>
      <p:sp>
        <p:nvSpPr>
          <p:cNvPr id="4" name="SQuAD heading"/>
          <p:cNvSpPr txBox="1"/>
          <p:nvPr/>
        </p:nvSpPr>
        <p:spPr>
          <a:xfrm>
            <a:off x="777240" y="1417320"/>
            <a:ext cx="4956048" cy="457200"/>
          </a:xfrm>
          <a:prstGeom prst="rect">
            <a:avLst/>
          </a:prstGeom>
          <a:noFill/>
          <a:ln/>
        </p:spPr>
        <p:txBody>
          <a:bodyPr wrap="square" lIns="0" tIns="0" rIns="0" bIns="0" rtlCol="0" anchor="ctr"/>
          <a:lstStyle/>
          <a:p>
            <a:pPr indent="0" marL="0">
              <a:buNone/>
            </a:pPr>
            <a:r>
              <a:rPr lang="en-US" sz="1800" b="1" dirty="0">
                <a:solidFill>
                  <a:schemeClr val="tx1"/>
                </a:solidFill>
              </a:rPr>
              <a:t>SQuAD  (2,996 questions, P@1)</a:t>
            </a:r>
            <a:endParaRPr lang="en-US" sz="1800" dirty="0"/>
          </a:p>
        </p:txBody>
      </p:sp>
      <p:graphicFrame>
        <p:nvGraphicFramePr>
          <p:cNvPr id="5" name="SQuAD chart" descr=""/>
          <p:cNvGraphicFramePr/>
          <p:nvPr/>
        </p:nvGraphicFramePr>
        <p:xfrm>
          <a:off x="731520" y="1874520"/>
          <a:ext cx="5047488" cy="2331720"/>
        </p:xfrm>
        <a:graphic xmlns:a="http://schemas.openxmlformats.org/drawingml/2006/main">
          <a:graphicData uri="http://schemas.openxmlformats.org/drawingml/2006/chart">
            <c:chart xmlns:c="http://schemas.openxmlformats.org/drawingml/2006/chart" r:id="rId1"/>
          </a:graphicData>
        </a:graphic>
      </p:graphicFrame>
      <p:sp>
        <p:nvSpPr>
          <p:cNvPr id="6" name="SQuAD row 1 label"/>
          <p:cNvSpPr txBox="1"/>
          <p:nvPr/>
        </p:nvSpPr>
        <p:spPr>
          <a:xfrm>
            <a:off x="777240" y="4389120"/>
            <a:ext cx="1463040" cy="457200"/>
          </a:xfrm>
          <a:prstGeom prst="rect">
            <a:avLst/>
          </a:prstGeom>
          <a:noFill/>
          <a:ln/>
        </p:spPr>
        <p:txBody>
          <a:bodyPr wrap="square" lIns="0" tIns="0" rIns="0" bIns="0" rtlCol="0" anchor="ctr"/>
          <a:lstStyle/>
          <a:p>
            <a:pPr indent="0" marL="0">
              <a:buNone/>
            </a:pPr>
            <a:r>
              <a:rPr lang="en-US" sz="1400" b="1" dirty="0">
                <a:solidFill>
                  <a:schemeClr val="tx1"/>
                </a:solidFill>
              </a:rPr>
              <a:t>J1 vs DAT</a:t>
            </a:r>
            <a:endParaRPr lang="en-US" sz="1400" dirty="0"/>
          </a:p>
        </p:txBody>
      </p:sp>
      <p:sp>
        <p:nvSpPr>
          <p:cNvPr id="7" name="SQuAD row 1 value"/>
          <p:cNvSpPr txBox="1"/>
          <p:nvPr/>
        </p:nvSpPr>
        <p:spPr>
          <a:xfrm>
            <a:off x="2240280" y="4389120"/>
            <a:ext cx="2148840" cy="457200"/>
          </a:xfrm>
          <a:prstGeom prst="rect">
            <a:avLst/>
          </a:prstGeom>
          <a:noFill/>
          <a:ln/>
        </p:spPr>
        <p:txBody>
          <a:bodyPr wrap="square" lIns="0" tIns="0" rIns="0" bIns="0" rtlCol="0" anchor="ctr"/>
          <a:lstStyle/>
          <a:p>
            <a:pPr indent="0" marL="0">
              <a:buNone/>
            </a:pPr>
            <a:r>
              <a:rPr lang="en-US" sz="1400" dirty="0">
                <a:solidFill>
                  <a:schemeClr val="tx1"/>
                </a:solidFill>
              </a:rPr>
              <a:t>+1.64  [+1.00, +2.27]</a:t>
            </a:r>
            <a:endParaRPr lang="en-US" sz="1400" dirty="0"/>
          </a:p>
        </p:txBody>
      </p:sp>
      <p:sp>
        <p:nvSpPr>
          <p:cNvPr id="8" name="SQuAD row 1 verdict"/>
          <p:cNvSpPr txBox="1"/>
          <p:nvPr/>
        </p:nvSpPr>
        <p:spPr>
          <a:xfrm>
            <a:off x="4389120" y="4389120"/>
            <a:ext cx="1389888" cy="457200"/>
          </a:xfrm>
          <a:prstGeom prst="rect">
            <a:avLst/>
          </a:prstGeom>
          <a:noFill/>
          <a:ln/>
        </p:spPr>
        <p:txBody>
          <a:bodyPr wrap="square" lIns="0" tIns="0" rIns="0" bIns="0" rtlCol="0" anchor="ctr"/>
          <a:lstStyle/>
          <a:p>
            <a:pPr algn="r" indent="0" marL="0">
              <a:buNone/>
            </a:pPr>
            <a:r>
              <a:rPr lang="en-US" sz="1400" b="1" dirty="0">
                <a:solidFill>
                  <a:schemeClr val="accent2"/>
                </a:solidFill>
              </a:rPr>
              <a:t>J1 better</a:t>
            </a:r>
            <a:endParaRPr lang="en-US" sz="1400" dirty="0"/>
          </a:p>
        </p:txBody>
      </p:sp>
      <p:sp>
        <p:nvSpPr>
          <p:cNvPr id="9" name="SQuAD row 2 label"/>
          <p:cNvSpPr txBox="1"/>
          <p:nvPr/>
        </p:nvSpPr>
        <p:spPr>
          <a:xfrm>
            <a:off x="777240" y="4956048"/>
            <a:ext cx="1463040" cy="457200"/>
          </a:xfrm>
          <a:prstGeom prst="rect">
            <a:avLst/>
          </a:prstGeom>
          <a:noFill/>
          <a:ln/>
        </p:spPr>
        <p:txBody>
          <a:bodyPr wrap="square" lIns="0" tIns="0" rIns="0" bIns="0" rtlCol="0" anchor="ctr"/>
          <a:lstStyle/>
          <a:p>
            <a:pPr indent="0" marL="0">
              <a:buNone/>
            </a:pPr>
            <a:r>
              <a:rPr lang="en-US" sz="1400" b="1" dirty="0">
                <a:solidFill>
                  <a:schemeClr val="tx1"/>
                </a:solidFill>
              </a:rPr>
              <a:t>J3 vs J1</a:t>
            </a:r>
            <a:endParaRPr lang="en-US" sz="1400" dirty="0"/>
          </a:p>
        </p:txBody>
      </p:sp>
      <p:sp>
        <p:nvSpPr>
          <p:cNvPr id="10" name="SQuAD row 2 value"/>
          <p:cNvSpPr txBox="1"/>
          <p:nvPr/>
        </p:nvSpPr>
        <p:spPr>
          <a:xfrm>
            <a:off x="2240280" y="4956048"/>
            <a:ext cx="2148840" cy="457200"/>
          </a:xfrm>
          <a:prstGeom prst="rect">
            <a:avLst/>
          </a:prstGeom>
          <a:noFill/>
          <a:ln/>
        </p:spPr>
        <p:txBody>
          <a:bodyPr wrap="square" lIns="0" tIns="0" rIns="0" bIns="0" rtlCol="0" anchor="ctr"/>
          <a:lstStyle/>
          <a:p>
            <a:pPr indent="0" marL="0">
              <a:buNone/>
            </a:pPr>
            <a:r>
              <a:rPr lang="en-US" sz="1400" dirty="0">
                <a:solidFill>
                  <a:schemeClr val="tx1"/>
                </a:solidFill>
              </a:rPr>
              <a:t>−1.90  [−2.60, −1.23]</a:t>
            </a:r>
            <a:endParaRPr lang="en-US" sz="1400" dirty="0"/>
          </a:p>
        </p:txBody>
      </p:sp>
      <p:sp>
        <p:nvSpPr>
          <p:cNvPr id="11" name="SQuAD row 2 verdict"/>
          <p:cNvSpPr txBox="1"/>
          <p:nvPr/>
        </p:nvSpPr>
        <p:spPr>
          <a:xfrm>
            <a:off x="4389120" y="4956048"/>
            <a:ext cx="1389888" cy="457200"/>
          </a:xfrm>
          <a:prstGeom prst="rect">
            <a:avLst/>
          </a:prstGeom>
          <a:noFill/>
          <a:ln/>
        </p:spPr>
        <p:txBody>
          <a:bodyPr wrap="square" lIns="0" tIns="0" rIns="0" bIns="0" rtlCol="0" anchor="ctr"/>
          <a:lstStyle/>
          <a:p>
            <a:pPr algn="r" indent="0" marL="0">
              <a:buNone/>
            </a:pPr>
            <a:r>
              <a:rPr lang="en-US" sz="1400" b="1" dirty="0">
                <a:solidFill>
                  <a:schemeClr val="tx2"/>
                </a:solidFill>
              </a:rPr>
              <a:t>top-3 hurts</a:t>
            </a:r>
            <a:endParaRPr lang="en-US" sz="1400" dirty="0"/>
          </a:p>
        </p:txBody>
      </p:sp>
      <p:sp>
        <p:nvSpPr>
          <p:cNvPr id="12" name="SQuAD row 3 label"/>
          <p:cNvSpPr txBox="1"/>
          <p:nvPr/>
        </p:nvSpPr>
        <p:spPr>
          <a:xfrm>
            <a:off x="777240" y="5522976"/>
            <a:ext cx="1463040" cy="457200"/>
          </a:xfrm>
          <a:prstGeom prst="rect">
            <a:avLst/>
          </a:prstGeom>
          <a:noFill/>
          <a:ln/>
        </p:spPr>
        <p:txBody>
          <a:bodyPr wrap="square" lIns="0" tIns="0" rIns="0" bIns="0" rtlCol="0" anchor="ctr"/>
          <a:lstStyle/>
          <a:p>
            <a:pPr indent="0" marL="0">
              <a:buNone/>
            </a:pPr>
            <a:r>
              <a:rPr lang="en-US" sz="1400" b="1" dirty="0">
                <a:solidFill>
                  <a:schemeClr val="tx1"/>
                </a:solidFill>
              </a:rPr>
              <a:t>Judge cost / 1k</a:t>
            </a:r>
            <a:endParaRPr lang="en-US" sz="1400" dirty="0"/>
          </a:p>
        </p:txBody>
      </p:sp>
      <p:sp>
        <p:nvSpPr>
          <p:cNvPr id="13" name="SQuAD row 3 value"/>
          <p:cNvSpPr txBox="1"/>
          <p:nvPr/>
        </p:nvSpPr>
        <p:spPr>
          <a:xfrm>
            <a:off x="2240280" y="5522976"/>
            <a:ext cx="2148840" cy="457200"/>
          </a:xfrm>
          <a:prstGeom prst="rect">
            <a:avLst/>
          </a:prstGeom>
          <a:noFill/>
          <a:ln/>
        </p:spPr>
        <p:txBody>
          <a:bodyPr wrap="square" lIns="0" tIns="0" rIns="0" bIns="0" rtlCol="0" anchor="ctr"/>
          <a:lstStyle/>
          <a:p>
            <a:pPr indent="0" marL="0">
              <a:buNone/>
            </a:pPr>
            <a:r>
              <a:rPr lang="en-US" sz="1400" dirty="0">
                <a:solidFill>
                  <a:schemeClr val="tx1"/>
                </a:solidFill>
              </a:rPr>
              <a:t>$0.110 → $0.047</a:t>
            </a:r>
            <a:endParaRPr lang="en-US" sz="1400" dirty="0"/>
          </a:p>
        </p:txBody>
      </p:sp>
      <p:sp>
        <p:nvSpPr>
          <p:cNvPr id="14" name="SQuAD row 3 verdict"/>
          <p:cNvSpPr txBox="1"/>
          <p:nvPr/>
        </p:nvSpPr>
        <p:spPr>
          <a:xfrm>
            <a:off x="4389120" y="5522976"/>
            <a:ext cx="1389888" cy="457200"/>
          </a:xfrm>
          <a:prstGeom prst="rect">
            <a:avLst/>
          </a:prstGeom>
          <a:noFill/>
          <a:ln/>
        </p:spPr>
        <p:txBody>
          <a:bodyPr wrap="square" lIns="0" tIns="0" rIns="0" bIns="0" rtlCol="0" anchor="ctr"/>
          <a:lstStyle/>
          <a:p>
            <a:pPr algn="r" indent="0" marL="0">
              <a:buNone/>
            </a:pPr>
            <a:r>
              <a:rPr lang="en-US" sz="1400" b="1" dirty="0">
                <a:solidFill>
                  <a:schemeClr val="accent2"/>
                </a:solidFill>
              </a:rPr>
              <a:t>2.3× cheaper</a:t>
            </a:r>
            <a:endParaRPr lang="en-US" sz="1400" dirty="0"/>
          </a:p>
        </p:txBody>
      </p:sp>
      <p:sp>
        <p:nvSpPr>
          <p:cNvPr id="15" name="NFCorpus panel"/>
          <p:cNvSpPr/>
          <p:nvPr/>
        </p:nvSpPr>
        <p:spPr>
          <a:xfrm>
            <a:off x="6227064" y="1325880"/>
            <a:ext cx="5413248" cy="4892040"/>
          </a:xfrm>
          <a:prstGeom prst="roundRect">
            <a:avLst>
              <a:gd name="adj" fmla="val 1495"/>
            </a:avLst>
          </a:prstGeom>
          <a:solidFill>
            <a:srgbClr val="EEF2F7"/>
          </a:solidFill>
          <a:ln w="12700">
            <a:solidFill>
              <a:srgbClr val="EEF2F7"/>
            </a:solidFill>
            <a:prstDash val="solid"/>
          </a:ln>
        </p:spPr>
      </p:sp>
      <p:sp>
        <p:nvSpPr>
          <p:cNvPr id="16" name="NFCorpus heading"/>
          <p:cNvSpPr txBox="1"/>
          <p:nvPr/>
        </p:nvSpPr>
        <p:spPr>
          <a:xfrm>
            <a:off x="6455664" y="1417320"/>
            <a:ext cx="4956048" cy="457200"/>
          </a:xfrm>
          <a:prstGeom prst="rect">
            <a:avLst/>
          </a:prstGeom>
          <a:noFill/>
          <a:ln/>
        </p:spPr>
        <p:txBody>
          <a:bodyPr wrap="square" lIns="0" tIns="0" rIns="0" bIns="0" rtlCol="0" anchor="ctr"/>
          <a:lstStyle/>
          <a:p>
            <a:pPr indent="0" marL="0">
              <a:buNone/>
            </a:pPr>
            <a:r>
              <a:rPr lang="en-US" sz="1800" b="1" dirty="0">
                <a:solidFill>
                  <a:schemeClr val="tx1"/>
                </a:solidFill>
              </a:rPr>
              <a:t>BEIR NFCorpus  (323 queries, nDCG@10)</a:t>
            </a:r>
            <a:endParaRPr lang="en-US" sz="1800" dirty="0"/>
          </a:p>
        </p:txBody>
      </p:sp>
      <p:graphicFrame>
        <p:nvGraphicFramePr>
          <p:cNvPr id="17" name="NFCorpus chart" descr=""/>
          <p:cNvGraphicFramePr/>
          <p:nvPr/>
        </p:nvGraphicFramePr>
        <p:xfrm>
          <a:off x="6409944" y="1874520"/>
          <a:ext cx="5047488" cy="2331720"/>
        </p:xfrm>
        <a:graphic xmlns:a="http://schemas.openxmlformats.org/drawingml/2006/main">
          <a:graphicData uri="http://schemas.openxmlformats.org/drawingml/2006/chart">
            <c:chart xmlns:c="http://schemas.openxmlformats.org/drawingml/2006/chart" r:id="rId2"/>
          </a:graphicData>
        </a:graphic>
      </p:graphicFrame>
      <p:sp>
        <p:nvSpPr>
          <p:cNvPr id="18" name="NFCorpus row 1 label"/>
          <p:cNvSpPr txBox="1"/>
          <p:nvPr/>
        </p:nvSpPr>
        <p:spPr>
          <a:xfrm>
            <a:off x="6455664" y="4389120"/>
            <a:ext cx="1463040" cy="457200"/>
          </a:xfrm>
          <a:prstGeom prst="rect">
            <a:avLst/>
          </a:prstGeom>
          <a:noFill/>
          <a:ln/>
        </p:spPr>
        <p:txBody>
          <a:bodyPr wrap="square" lIns="0" tIns="0" rIns="0" bIns="0" rtlCol="0" anchor="ctr"/>
          <a:lstStyle/>
          <a:p>
            <a:pPr indent="0" marL="0">
              <a:buNone/>
            </a:pPr>
            <a:r>
              <a:rPr lang="en-US" sz="1400" b="1" dirty="0">
                <a:solidFill>
                  <a:schemeClr val="tx1"/>
                </a:solidFill>
              </a:rPr>
              <a:t>J1 vs DAT</a:t>
            </a:r>
            <a:endParaRPr lang="en-US" sz="1400" dirty="0"/>
          </a:p>
        </p:txBody>
      </p:sp>
      <p:sp>
        <p:nvSpPr>
          <p:cNvPr id="19" name="NFCorpus row 1 value"/>
          <p:cNvSpPr txBox="1"/>
          <p:nvPr/>
        </p:nvSpPr>
        <p:spPr>
          <a:xfrm>
            <a:off x="7918704" y="4389120"/>
            <a:ext cx="2148840" cy="457200"/>
          </a:xfrm>
          <a:prstGeom prst="rect">
            <a:avLst/>
          </a:prstGeom>
          <a:noFill/>
          <a:ln/>
        </p:spPr>
        <p:txBody>
          <a:bodyPr wrap="square" lIns="0" tIns="0" rIns="0" bIns="0" rtlCol="0" anchor="ctr"/>
          <a:lstStyle/>
          <a:p>
            <a:pPr indent="0" marL="0">
              <a:buNone/>
            </a:pPr>
            <a:r>
              <a:rPr lang="en-US" sz="1400" dirty="0">
                <a:solidFill>
                  <a:schemeClr val="tx1"/>
                </a:solidFill>
              </a:rPr>
              <a:t>+0.53  [−0.28, +1.35]</a:t>
            </a:r>
            <a:endParaRPr lang="en-US" sz="1400" dirty="0"/>
          </a:p>
        </p:txBody>
      </p:sp>
      <p:sp>
        <p:nvSpPr>
          <p:cNvPr id="20" name="NFCorpus row 1 verdict"/>
          <p:cNvSpPr txBox="1"/>
          <p:nvPr/>
        </p:nvSpPr>
        <p:spPr>
          <a:xfrm>
            <a:off x="10067544" y="4389120"/>
            <a:ext cx="1389888" cy="457200"/>
          </a:xfrm>
          <a:prstGeom prst="rect">
            <a:avLst/>
          </a:prstGeom>
          <a:noFill/>
          <a:ln/>
        </p:spPr>
        <p:txBody>
          <a:bodyPr wrap="square" lIns="0" tIns="0" rIns="0" bIns="0" rtlCol="0" anchor="ctr"/>
          <a:lstStyle/>
          <a:p>
            <a:pPr algn="r" indent="0" marL="0">
              <a:buNone/>
            </a:pPr>
            <a:r>
              <a:rPr lang="en-US" sz="1400" b="1" dirty="0">
                <a:solidFill>
                  <a:schemeClr val="tx2"/>
                </a:solidFill>
              </a:rPr>
              <a:t>inconclusive</a:t>
            </a:r>
            <a:endParaRPr lang="en-US" sz="1400" dirty="0"/>
          </a:p>
        </p:txBody>
      </p:sp>
      <p:sp>
        <p:nvSpPr>
          <p:cNvPr id="21" name="NFCorpus row 2 label"/>
          <p:cNvSpPr txBox="1"/>
          <p:nvPr/>
        </p:nvSpPr>
        <p:spPr>
          <a:xfrm>
            <a:off x="6455664" y="4956048"/>
            <a:ext cx="1463040" cy="457200"/>
          </a:xfrm>
          <a:prstGeom prst="rect">
            <a:avLst/>
          </a:prstGeom>
          <a:noFill/>
          <a:ln/>
        </p:spPr>
        <p:txBody>
          <a:bodyPr wrap="square" lIns="0" tIns="0" rIns="0" bIns="0" rtlCol="0" anchor="ctr"/>
          <a:lstStyle/>
          <a:p>
            <a:pPr indent="0" marL="0">
              <a:buNone/>
            </a:pPr>
            <a:r>
              <a:rPr lang="en-US" sz="1400" b="1" dirty="0">
                <a:solidFill>
                  <a:schemeClr val="tx1"/>
                </a:solidFill>
              </a:rPr>
              <a:t>J3 vs J1</a:t>
            </a:r>
            <a:endParaRPr lang="en-US" sz="1400" dirty="0"/>
          </a:p>
        </p:txBody>
      </p:sp>
      <p:sp>
        <p:nvSpPr>
          <p:cNvPr id="22" name="NFCorpus row 2 value"/>
          <p:cNvSpPr txBox="1"/>
          <p:nvPr/>
        </p:nvSpPr>
        <p:spPr>
          <a:xfrm>
            <a:off x="7918704" y="4956048"/>
            <a:ext cx="2148840" cy="457200"/>
          </a:xfrm>
          <a:prstGeom prst="rect">
            <a:avLst/>
          </a:prstGeom>
          <a:noFill/>
          <a:ln/>
        </p:spPr>
        <p:txBody>
          <a:bodyPr wrap="square" lIns="0" tIns="0" rIns="0" bIns="0" rtlCol="0" anchor="ctr"/>
          <a:lstStyle/>
          <a:p>
            <a:pPr indent="0" marL="0">
              <a:buNone/>
            </a:pPr>
            <a:r>
              <a:rPr lang="en-US" sz="1400" dirty="0">
                <a:solidFill>
                  <a:schemeClr val="tx1"/>
                </a:solidFill>
              </a:rPr>
              <a:t>−0.15  [−0.82, +0.50]</a:t>
            </a:r>
            <a:endParaRPr lang="en-US" sz="1400" dirty="0"/>
          </a:p>
        </p:txBody>
      </p:sp>
      <p:sp>
        <p:nvSpPr>
          <p:cNvPr id="23" name="NFCorpus row 2 verdict"/>
          <p:cNvSpPr txBox="1"/>
          <p:nvPr/>
        </p:nvSpPr>
        <p:spPr>
          <a:xfrm>
            <a:off x="10067544" y="4956048"/>
            <a:ext cx="1389888" cy="457200"/>
          </a:xfrm>
          <a:prstGeom prst="rect">
            <a:avLst/>
          </a:prstGeom>
          <a:noFill/>
          <a:ln/>
        </p:spPr>
        <p:txBody>
          <a:bodyPr wrap="square" lIns="0" tIns="0" rIns="0" bIns="0" rtlCol="0" anchor="ctr"/>
          <a:lstStyle/>
          <a:p>
            <a:pPr algn="r" indent="0" marL="0">
              <a:buNone/>
            </a:pPr>
            <a:r>
              <a:rPr lang="en-US" sz="1400" b="1" dirty="0">
                <a:solidFill>
                  <a:schemeClr val="tx2"/>
                </a:solidFill>
              </a:rPr>
              <a:t>no difference</a:t>
            </a:r>
            <a:endParaRPr lang="en-US" sz="1400" dirty="0"/>
          </a:p>
        </p:txBody>
      </p:sp>
      <p:sp>
        <p:nvSpPr>
          <p:cNvPr id="24" name="NFCorpus row 3 label"/>
          <p:cNvSpPr txBox="1"/>
          <p:nvPr/>
        </p:nvSpPr>
        <p:spPr>
          <a:xfrm>
            <a:off x="6455664" y="5522976"/>
            <a:ext cx="1463040" cy="457200"/>
          </a:xfrm>
          <a:prstGeom prst="rect">
            <a:avLst/>
          </a:prstGeom>
          <a:noFill/>
          <a:ln/>
        </p:spPr>
        <p:txBody>
          <a:bodyPr wrap="square" lIns="0" tIns="0" rIns="0" bIns="0" rtlCol="0" anchor="ctr"/>
          <a:lstStyle/>
          <a:p>
            <a:pPr indent="0" marL="0">
              <a:buNone/>
            </a:pPr>
            <a:r>
              <a:rPr lang="en-US" sz="1400" b="1" dirty="0">
                <a:solidFill>
                  <a:schemeClr val="tx1"/>
                </a:solidFill>
              </a:rPr>
              <a:t>Judge cost / 1k</a:t>
            </a:r>
            <a:endParaRPr lang="en-US" sz="1400" dirty="0"/>
          </a:p>
        </p:txBody>
      </p:sp>
      <p:sp>
        <p:nvSpPr>
          <p:cNvPr id="25" name="NFCorpus row 3 value"/>
          <p:cNvSpPr txBox="1"/>
          <p:nvPr/>
        </p:nvSpPr>
        <p:spPr>
          <a:xfrm>
            <a:off x="7918704" y="5522976"/>
            <a:ext cx="2148840" cy="457200"/>
          </a:xfrm>
          <a:prstGeom prst="rect">
            <a:avLst/>
          </a:prstGeom>
          <a:noFill/>
          <a:ln/>
        </p:spPr>
        <p:txBody>
          <a:bodyPr wrap="square" lIns="0" tIns="0" rIns="0" bIns="0" rtlCol="0" anchor="ctr"/>
          <a:lstStyle/>
          <a:p>
            <a:pPr indent="0" marL="0">
              <a:buNone/>
            </a:pPr>
            <a:r>
              <a:rPr lang="en-US" sz="1400" dirty="0">
                <a:solidFill>
                  <a:schemeClr val="tx1"/>
                </a:solidFill>
              </a:rPr>
              <a:t>$0.158 → $0.062</a:t>
            </a:r>
            <a:endParaRPr lang="en-US" sz="1400" dirty="0"/>
          </a:p>
        </p:txBody>
      </p:sp>
      <p:sp>
        <p:nvSpPr>
          <p:cNvPr id="26" name="NFCorpus row 3 verdict"/>
          <p:cNvSpPr txBox="1"/>
          <p:nvPr/>
        </p:nvSpPr>
        <p:spPr>
          <a:xfrm>
            <a:off x="10067544" y="5522976"/>
            <a:ext cx="1389888" cy="457200"/>
          </a:xfrm>
          <a:prstGeom prst="rect">
            <a:avLst/>
          </a:prstGeom>
          <a:noFill/>
          <a:ln/>
        </p:spPr>
        <p:txBody>
          <a:bodyPr wrap="square" lIns="0" tIns="0" rIns="0" bIns="0" rtlCol="0" anchor="ctr"/>
          <a:lstStyle/>
          <a:p>
            <a:pPr algn="r" indent="0" marL="0">
              <a:buNone/>
            </a:pPr>
            <a:r>
              <a:rPr lang="en-US" sz="1400" b="1" dirty="0">
                <a:solidFill>
                  <a:schemeClr val="accent2"/>
                </a:solidFill>
              </a:rPr>
              <a:t>2.6× cheaper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Conclusion: a cheaper judge, but beat a tuned α first</a:t>
            </a:r>
            <a:endParaRPr lang="en-US" sz="3200" dirty="0"/>
          </a:p>
        </p:txBody>
      </p:sp>
      <p:sp>
        <p:nvSpPr>
          <p:cNvPr id="3" name="takeaway 1 circle"/>
          <p:cNvSpPr/>
          <p:nvPr/>
        </p:nvSpPr>
        <p:spPr>
          <a:xfrm>
            <a:off x="548640" y="1554480"/>
            <a:ext cx="731520" cy="731520"/>
          </a:xfrm>
          <a:prstGeom prst="ellipse">
            <a:avLst/>
          </a:prstGeom>
          <a:solidFill>
            <a:srgbClr val="C8385A"/>
          </a:solidFill>
          <a:ln w="12700">
            <a:solidFill>
              <a:srgbClr val="C8385A"/>
            </a:solidFill>
            <a:prstDash val="solid"/>
          </a:ln>
        </p:spPr>
      </p:sp>
      <p:sp>
        <p:nvSpPr>
          <p:cNvPr id="4" name="takeaway 1 number"/>
          <p:cNvSpPr txBox="1"/>
          <p:nvPr/>
        </p:nvSpPr>
        <p:spPr>
          <a:xfrm>
            <a:off x="548640" y="155448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1</a:t>
            </a:r>
            <a:endParaRPr lang="en-US" sz="2400" dirty="0"/>
          </a:p>
        </p:txBody>
      </p:sp>
      <p:sp>
        <p:nvSpPr>
          <p:cNvPr id="5" name="takeaway 1 head"/>
          <p:cNvSpPr txBox="1"/>
          <p:nvPr/>
        </p:nvSpPr>
        <p:spPr>
          <a:xfrm>
            <a:off x="1554480" y="1463040"/>
            <a:ext cx="6263640" cy="457200"/>
          </a:xfrm>
          <a:prstGeom prst="rect">
            <a:avLst/>
          </a:prstGeom>
          <a:noFill/>
          <a:ln/>
        </p:spPr>
        <p:txBody>
          <a:bodyPr wrap="square" lIns="0" tIns="0" rIns="0" bIns="0" rtlCol="0" anchor="ctr"/>
          <a:lstStyle/>
          <a:p>
            <a:pPr indent="0" marL="0">
              <a:buNone/>
            </a:pPr>
            <a:r>
              <a:rPr lang="en-US" sz="2000" b="1" dirty="0">
                <a:solidFill>
                  <a:schemeClr val="accent2"/>
                </a:solidFill>
              </a:rPr>
              <a:t>Jev is a cheaper, faster drop-in for DAT's judge</a:t>
            </a:r>
            <a:endParaRPr lang="en-US" sz="2000" dirty="0"/>
          </a:p>
        </p:txBody>
      </p:sp>
      <p:sp>
        <p:nvSpPr>
          <p:cNvPr id="6" name="takeaway 1 body"/>
          <p:cNvSpPr txBox="1"/>
          <p:nvPr/>
        </p:nvSpPr>
        <p:spPr>
          <a:xfrm>
            <a:off x="1554480" y="1920240"/>
            <a:ext cx="6263640" cy="731520"/>
          </a:xfrm>
          <a:prstGeom prst="rect">
            <a:avLst/>
          </a:prstGeom>
          <a:noFill/>
          <a:ln/>
        </p:spPr>
        <p:txBody>
          <a:bodyPr wrap="square" lIns="0" tIns="0" rIns="0" bIns="0" rtlCol="0" anchor="t"/>
          <a:lstStyle/>
          <a:p>
            <a:pPr indent="0" marL="0">
              <a:buNone/>
            </a:pPr>
            <a:r>
              <a:rPr lang="en-US" sz="1400" dirty="0">
                <a:solidFill>
                  <a:schemeClr val="tx1"/>
                </a:solidFill>
              </a:rPr>
              <a:t>2.3–2.6× lower judge-call cost and faster on 81% / 94% of queries; on SQuAD also +1.64 P@1 over DAT</a:t>
            </a:r>
            <a:endParaRPr lang="en-US" sz="1400" dirty="0"/>
          </a:p>
        </p:txBody>
      </p:sp>
      <p:sp>
        <p:nvSpPr>
          <p:cNvPr id="7" name="takeaway 2 circle"/>
          <p:cNvSpPr/>
          <p:nvPr/>
        </p:nvSpPr>
        <p:spPr>
          <a:xfrm>
            <a:off x="548640" y="3017520"/>
            <a:ext cx="731520" cy="731520"/>
          </a:xfrm>
          <a:prstGeom prst="ellipse">
            <a:avLst/>
          </a:prstGeom>
          <a:solidFill>
            <a:srgbClr val="3A6EA5"/>
          </a:solidFill>
          <a:ln w="12700">
            <a:solidFill>
              <a:srgbClr val="3A6EA5"/>
            </a:solidFill>
            <a:prstDash val="solid"/>
          </a:ln>
        </p:spPr>
      </p:sp>
      <p:sp>
        <p:nvSpPr>
          <p:cNvPr id="8" name="takeaway 2 number"/>
          <p:cNvSpPr txBox="1"/>
          <p:nvPr/>
        </p:nvSpPr>
        <p:spPr>
          <a:xfrm>
            <a:off x="548640" y="30175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2</a:t>
            </a:r>
            <a:endParaRPr lang="en-US" sz="2400" dirty="0"/>
          </a:p>
        </p:txBody>
      </p:sp>
      <p:sp>
        <p:nvSpPr>
          <p:cNvPr id="9" name="takeaway 2 head"/>
          <p:cNvSpPr txBox="1"/>
          <p:nvPr/>
        </p:nvSpPr>
        <p:spPr>
          <a:xfrm>
            <a:off x="1554480" y="2926080"/>
            <a:ext cx="6263640" cy="457200"/>
          </a:xfrm>
          <a:prstGeom prst="rect">
            <a:avLst/>
          </a:prstGeom>
          <a:noFill/>
          <a:ln/>
        </p:spPr>
        <p:txBody>
          <a:bodyPr wrap="square" lIns="0" tIns="0" rIns="0" bIns="0" rtlCol="0" anchor="ctr"/>
          <a:lstStyle/>
          <a:p>
            <a:pPr indent="0" marL="0">
              <a:buNone/>
            </a:pPr>
            <a:r>
              <a:rPr lang="en-US" sz="2000" b="1" dirty="0">
                <a:solidFill>
                  <a:schemeClr val="accent1"/>
                </a:solidFill>
              </a:rPr>
              <a:t>Judging the top-1 is enough</a:t>
            </a:r>
            <a:endParaRPr lang="en-US" sz="2000" dirty="0"/>
          </a:p>
        </p:txBody>
      </p:sp>
      <p:sp>
        <p:nvSpPr>
          <p:cNvPr id="10" name="takeaway 2 body"/>
          <p:cNvSpPr txBox="1"/>
          <p:nvPr/>
        </p:nvSpPr>
        <p:spPr>
          <a:xfrm>
            <a:off x="1554480" y="3383280"/>
            <a:ext cx="6263640" cy="731520"/>
          </a:xfrm>
          <a:prstGeom prst="rect">
            <a:avLst/>
          </a:prstGeom>
          <a:noFill/>
          <a:ln/>
        </p:spPr>
        <p:txBody>
          <a:bodyPr wrap="square" lIns="0" tIns="0" rIns="0" bIns="0" rtlCol="0" anchor="t"/>
          <a:lstStyle/>
          <a:p>
            <a:pPr indent="0" marL="0">
              <a:buNone/>
            </a:pPr>
            <a:r>
              <a:rPr lang="en-US" sz="1400" dirty="0">
                <a:solidFill>
                  <a:schemeClr val="tx1"/>
                </a:solidFill>
              </a:rPr>
              <a:t>Top-3 lowered P@1 by 1.90 on SQuAD (one relevant paragraph) and did not help on NFCorpus</a:t>
            </a:r>
            <a:endParaRPr lang="en-US" sz="1400" dirty="0"/>
          </a:p>
        </p:txBody>
      </p:sp>
      <p:sp>
        <p:nvSpPr>
          <p:cNvPr id="11" name="takeaway 3 circle"/>
          <p:cNvSpPr/>
          <p:nvPr/>
        </p:nvSpPr>
        <p:spPr>
          <a:xfrm>
            <a:off x="548640" y="4480560"/>
            <a:ext cx="731520" cy="731520"/>
          </a:xfrm>
          <a:prstGeom prst="ellipse">
            <a:avLst/>
          </a:prstGeom>
          <a:solidFill>
            <a:srgbClr val="1B2A41"/>
          </a:solidFill>
          <a:ln w="12700">
            <a:solidFill>
              <a:srgbClr val="1B2A41"/>
            </a:solidFill>
            <a:prstDash val="solid"/>
          </a:ln>
        </p:spPr>
      </p:sp>
      <p:sp>
        <p:nvSpPr>
          <p:cNvPr id="12" name="takeaway 3 number"/>
          <p:cNvSpPr txBox="1"/>
          <p:nvPr/>
        </p:nvSpPr>
        <p:spPr>
          <a:xfrm>
            <a:off x="548640" y="448056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3</a:t>
            </a:r>
            <a:endParaRPr lang="en-US" sz="2400" dirty="0"/>
          </a:p>
        </p:txBody>
      </p:sp>
      <p:sp>
        <p:nvSpPr>
          <p:cNvPr id="13" name="takeaway 3 head"/>
          <p:cNvSpPr txBox="1"/>
          <p:nvPr/>
        </p:nvSpPr>
        <p:spPr>
          <a:xfrm>
            <a:off x="1554480" y="4389120"/>
            <a:ext cx="6263640" cy="457200"/>
          </a:xfrm>
          <a:prstGeom prst="rect">
            <a:avLst/>
          </a:prstGeom>
          <a:noFill/>
          <a:ln/>
        </p:spPr>
        <p:txBody>
          <a:bodyPr wrap="square" lIns="0" tIns="0" rIns="0" bIns="0" rtlCol="0" anchor="ctr"/>
          <a:lstStyle/>
          <a:p>
            <a:pPr indent="0" marL="0">
              <a:buNone/>
            </a:pPr>
            <a:r>
              <a:rPr lang="en-US" sz="2000" b="1" dirty="0">
                <a:solidFill>
                  <a:schemeClr val="tx1"/>
                </a:solidFill>
              </a:rPr>
              <a:t>The best fusion depends on the dataset</a:t>
            </a:r>
            <a:endParaRPr lang="en-US" sz="2000" dirty="0"/>
          </a:p>
        </p:txBody>
      </p:sp>
      <p:sp>
        <p:nvSpPr>
          <p:cNvPr id="14" name="takeaway 3 body"/>
          <p:cNvSpPr txBox="1"/>
          <p:nvPr/>
        </p:nvSpPr>
        <p:spPr>
          <a:xfrm>
            <a:off x="1554480" y="4846320"/>
            <a:ext cx="6263640" cy="731520"/>
          </a:xfrm>
          <a:prstGeom prst="rect">
            <a:avLst/>
          </a:prstGeom>
          <a:noFill/>
          <a:ln/>
        </p:spPr>
        <p:txBody>
          <a:bodyPr wrap="square" lIns="0" tIns="0" rIns="0" bIns="0" rtlCol="0" anchor="t"/>
          <a:lstStyle/>
          <a:p>
            <a:pPr indent="0" marL="0">
              <a:buNone/>
            </a:pPr>
            <a:r>
              <a:rPr lang="en-US" sz="1400" dirty="0">
                <a:solidFill>
                  <a:schemeClr val="tx1"/>
                </a:solidFill>
              </a:rPr>
              <a:t>SQuAD: every judge beats the tuned fixed α.  NFCorpus: none does; DAT is 1.32 nDCG@10 below it</a:t>
            </a:r>
            <a:endParaRPr lang="en-US" sz="1400" dirty="0"/>
          </a:p>
        </p:txBody>
      </p:sp>
      <p:sp>
        <p:nvSpPr>
          <p:cNvPr id="15" name="next steps card"/>
          <p:cNvSpPr/>
          <p:nvPr/>
        </p:nvSpPr>
        <p:spPr>
          <a:xfrm>
            <a:off x="8001000" y="1463040"/>
            <a:ext cx="3639312" cy="3291840"/>
          </a:xfrm>
          <a:prstGeom prst="roundRect">
            <a:avLst>
              <a:gd name="adj" fmla="val 2222"/>
            </a:avLst>
          </a:prstGeom>
          <a:solidFill>
            <a:srgbClr val="EEF2F7"/>
          </a:solidFill>
          <a:ln w="12700">
            <a:solidFill>
              <a:srgbClr val="EEF2F7"/>
            </a:solidFill>
            <a:prstDash val="solid"/>
          </a:ln>
        </p:spPr>
      </p:sp>
      <p:sp>
        <p:nvSpPr>
          <p:cNvPr id="16" name="next steps"/>
          <p:cNvSpPr txBox="1"/>
          <p:nvPr/>
        </p:nvSpPr>
        <p:spPr>
          <a:xfrm>
            <a:off x="8229600" y="1645920"/>
            <a:ext cx="3200400" cy="2926080"/>
          </a:xfrm>
          <a:prstGeom prst="rect">
            <a:avLst/>
          </a:prstGeom>
          <a:noFill/>
          <a:ln/>
        </p:spPr>
        <p:txBody>
          <a:bodyPr wrap="square" lIns="0" tIns="0" rIns="0" bIns="0" rtlCol="0" anchor="t"/>
          <a:lstStyle/>
          <a:p>
            <a:pPr indent="0" marL="0">
              <a:spcAft>
                <a:spcPts val="1000"/>
              </a:spcAft>
              <a:buNone/>
            </a:pPr>
            <a:r>
              <a:rPr lang="en-US" sz="1800" b="1" dirty="0">
                <a:solidFill>
                  <a:schemeClr val="tx1"/>
                </a:solidFill>
              </a:rPr>
              <a:t>Next steps</a:t>
            </a:r>
            <a:endParaRPr lang="en-US" sz="1800" dirty="0"/>
          </a:p>
          <a:p>
            <a:pPr marL="342900" indent="-342900">
              <a:spcAft>
                <a:spcPts val="1000"/>
              </a:spcAft>
              <a:buSzPct val="100000"/>
              <a:buChar char="•"/>
            </a:pPr>
            <a:r>
              <a:rPr lang="en-US" sz="1400" dirty="0">
                <a:solidFill>
                  <a:schemeClr val="tx1"/>
                </a:solidFill>
              </a:rPr>
              <a:t>Keep a tuned α and leave it only when the judge gives a clear reason (a gate)</a:t>
            </a:r>
            <a:endParaRPr lang="en-US" sz="1800" dirty="0"/>
          </a:p>
          <a:p>
            <a:pPr marL="342900" indent="-342900">
              <a:spcAft>
                <a:spcPts val="1000"/>
              </a:spcAft>
              <a:buSzPct val="100000"/>
              <a:buChar char="•"/>
            </a:pPr>
            <a:r>
              <a:rPr lang="en-US" sz="1400" dirty="0">
                <a:solidFill>
                  <a:schemeClr val="tx1"/>
                </a:solidFill>
              </a:rPr>
              <a:t>Larger test sets with many relevant documents per query</a:t>
            </a:r>
            <a:endParaRPr lang="en-US" sz="1800" dirty="0"/>
          </a:p>
          <a:p>
            <a:pPr marL="342900" indent="-342900">
              <a:spcAft>
                <a:spcPts val="1000"/>
              </a:spcAft>
              <a:buSzPct val="100000"/>
              <a:buChar char="•"/>
            </a:pPr>
            <a:r>
              <a:rPr lang="en-US" sz="1400" dirty="0">
                <a:solidFill>
                  <a:schemeClr val="tx1"/>
                </a:solidFill>
              </a:rPr>
              <a:t>More datasets, e.g. DAT's Chinese DRCD</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10543032" cy="1280160"/>
          </a:xfrm>
          <a:prstGeom prst="rect">
            <a:avLst/>
          </a:prstGeom>
          <a:noFill/>
          <a:ln/>
        </p:spPr>
        <p:txBody>
          <a:bodyPr wrap="square" lIns="0" tIns="0" rIns="0" bIns="0" rtlCol="0" anchor="ctr"/>
          <a:lstStyle/>
          <a:p>
            <a:pPr algn="ctr" indent="0" marL="0">
              <a:buNone/>
            </a:pPr>
            <a:r>
              <a:rPr lang="en-US" sz="5400" b="1" dirty="0">
                <a:solidFill>
                  <a:schemeClr val="bg1"/>
                </a:solidFill>
              </a:rPr>
              <a:t>Thank you</a:t>
            </a:r>
            <a:endParaRPr lang="en-US" sz="5400" dirty="0"/>
          </a:p>
        </p:txBody>
      </p:sp>
      <p:sp>
        <p:nvSpPr>
          <p:cNvPr id="3" name="questions"/>
          <p:cNvSpPr txBox="1"/>
          <p:nvPr/>
        </p:nvSpPr>
        <p:spPr>
          <a:xfrm>
            <a:off x="822960" y="3154680"/>
            <a:ext cx="10543032" cy="640080"/>
          </a:xfrm>
          <a:prstGeom prst="rect">
            <a:avLst/>
          </a:prstGeom>
          <a:noFill/>
          <a:ln/>
        </p:spPr>
        <p:txBody>
          <a:bodyPr wrap="square" lIns="0" tIns="0" rIns="0" bIns="0" rtlCol="0" anchor="ctr"/>
          <a:lstStyle/>
          <a:p>
            <a:pPr algn="ctr" indent="0" marL="0">
              <a:buNone/>
            </a:pPr>
            <a:r>
              <a:rPr lang="en-US" sz="2800" i="1" dirty="0">
                <a:solidFill>
                  <a:srgbClr val="DCE6F2"/>
                </a:solidFill>
              </a:rPr>
              <a:t>Questions?</a:t>
            </a:r>
            <a:endParaRPr lang="en-US" sz="2800" dirty="0"/>
          </a:p>
        </p:txBody>
      </p:sp>
      <p:sp>
        <p:nvSpPr>
          <p:cNvPr id="4" name="contacts"/>
          <p:cNvSpPr txBox="1"/>
          <p:nvPr/>
        </p:nvSpPr>
        <p:spPr>
          <a:xfrm>
            <a:off x="822960" y="4663440"/>
            <a:ext cx="10543032" cy="822960"/>
          </a:xfrm>
          <a:prstGeom prst="rect">
            <a:avLst/>
          </a:prstGeom>
          <a:noFill/>
          <a:ln/>
        </p:spPr>
        <p:txBody>
          <a:bodyPr wrap="square" lIns="0" tIns="0" rIns="0" bIns="0" rtlCol="0" anchor="ctr"/>
          <a:lstStyle/>
          <a:p>
            <a:pPr algn="ctr" indent="0" marL="0">
              <a:buNone/>
            </a:pPr>
            <a:r>
              <a:rPr lang="en-US" sz="1800" b="1" dirty="0">
                <a:solidFill>
                  <a:schemeClr val="bg1"/>
                </a:solidFill>
              </a:rPr>
              <a:t>Rihab Atwi  ·  Ibrahim Shawraba  ·  Sophie Aoun</a:t>
            </a:r>
            <a:endParaRPr lang="en-US" sz="1800" dirty="0"/>
          </a:p>
          <a:p>
            <a:pPr algn="ctr" indent="0" marL="0">
              <a:buNone/>
            </a:pPr>
            <a:r>
              <a:rPr lang="en-US" sz="1400" dirty="0">
                <a:solidFill>
                  <a:schemeClr val="bg1"/>
                </a:solidFill>
              </a:rPr>
              <a:t>rihab112000@gmail.com   ·   ibrahim.shawraba11@gmail.com   ·   Sophieaoun0@gmail.com</a:t>
            </a:r>
            <a:endParaRPr lang="en-US" sz="1800" dirty="0"/>
          </a:p>
        </p:txBody>
      </p:sp>
      <p:sp>
        <p:nvSpPr>
          <p:cNvPr id="5" name="closing affiliation"/>
          <p:cNvSpPr txBox="1"/>
          <p:nvPr/>
        </p:nvSpPr>
        <p:spPr>
          <a:xfrm>
            <a:off x="822960" y="5806440"/>
            <a:ext cx="10543032" cy="365760"/>
          </a:xfrm>
          <a:prstGeom prst="rect">
            <a:avLst/>
          </a:prstGeom>
          <a:noFill/>
          <a:ln/>
        </p:spPr>
        <p:txBody>
          <a:bodyPr wrap="square" lIns="0" tIns="0" rIns="0" bIns="0" rtlCol="0" anchor="ctr"/>
          <a:lstStyle/>
          <a:p>
            <a:pPr algn="ctr" indent="0" marL="0">
              <a:buNone/>
            </a:pPr>
            <a:r>
              <a:rPr lang="en-US" sz="1400" dirty="0">
                <a:solidFill>
                  <a:srgbClr val="DCE6F2"/>
                </a:solidFill>
              </a:rPr>
              <a:t>Faculty of Science, Lebanese University  |  Instructor: Dr. Ahmad Abboud</a:t>
            </a:r>
            <a:endParaRPr lang="en-US" sz="1400" dirty="0"/>
          </a:p>
        </p:txBody>
      </p:sp>
    </p:spTree>
  </p:cSld>
  <p:clrMapOvr>
    <a:masterClrMapping/>
  </p:clrMapOvr>
</p:sld>
</file>

<file path=ppt/theme/theme1.xml><?xml version="1.0" encoding="utf-8"?>
<a:theme xmlns:a="http://schemas.openxmlformats.org/drawingml/2006/main" name="JevFusion">
  <a:themeElements>
    <a:clrScheme name="JevFusion">
      <a:dk1>
        <a:srgbClr val="1B2A41"/>
      </a:dk1>
      <a:lt1>
        <a:srgbClr val="FFFFFF"/>
      </a:lt1>
      <a:dk2>
        <a:srgbClr val="4A5568"/>
      </a:dk2>
      <a:lt2>
        <a:srgbClr val="EEF2F7"/>
      </a:lt2>
      <a:accent1>
        <a:srgbClr val="3A6EA5"/>
      </a:accent1>
      <a:accent2>
        <a:srgbClr val="C8385A"/>
      </a:accent2>
      <a:accent3>
        <a:srgbClr val="8A94A6"/>
      </a:accent3>
      <a:accent4>
        <a:srgbClr val="E9A23B"/>
      </a:accent4>
      <a:accent5>
        <a:srgbClr val="DCE6F2"/>
      </a:accent5>
      <a:accent6>
        <a:srgbClr val="F8DDE3"/>
      </a:accent6>
      <a:hlink>
        <a:srgbClr val="3A6EA5"/>
      </a:hlink>
      <a:folHlink>
        <a:srgbClr val="6C7A89"/>
      </a:folHlink>
    </a:clrScheme>
    <a:fontScheme name="JevFu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JevFusion: Evaluating a Specialized Decision Model for Cost-Efficient Adaptive Hybrid Retrieval</dc:title>
  <dc:subject>PptxGenJS Presentation</dc:subject>
  <dc:creator>Rihab Atwi, Ibrahim Shawraba, Sophie Aoun</dc:creator>
  <cp:lastModifiedBy>Rihab Atwi, Ibrahim Shawraba, Sophie Aoun</cp:lastModifiedBy>
  <cp:revision>1</cp:revision>
  <dcterms:created xsi:type="dcterms:W3CDTF">2026-10-21T14:40:37Z</dcterms:created>
  <dcterms:modified xsi:type="dcterms:W3CDTF">2026-10-21T14:40:37Z</dcterms:modified>
</cp:coreProperties>
</file>